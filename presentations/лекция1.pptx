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68" r:id="rId14"/>
    <p:sldId id="272" r:id="rId15"/>
    <p:sldId id="274" r:id="rId16"/>
    <p:sldId id="275" r:id="rId17"/>
    <p:sldId id="276" r:id="rId18"/>
    <p:sldId id="278" r:id="rId19"/>
    <p:sldId id="277" r:id="rId20"/>
    <p:sldId id="279" r:id="rId21"/>
    <p:sldId id="280" r:id="rId22"/>
    <p:sldId id="270" r:id="rId23"/>
    <p:sldId id="286" r:id="rId24"/>
    <p:sldId id="281" r:id="rId25"/>
    <p:sldId id="283" r:id="rId26"/>
    <p:sldId id="284" r:id="rId27"/>
    <p:sldId id="285" r:id="rId28"/>
    <p:sldId id="282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26C"/>
    <a:srgbClr val="D82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howGuides="1">
      <p:cViewPr varScale="1">
        <p:scale>
          <a:sx n="82" d="100"/>
          <a:sy n="82" d="100"/>
        </p:scale>
        <p:origin x="58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61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1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2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69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81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03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04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4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6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96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1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30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56000" y="2762312"/>
            <a:ext cx="10515600" cy="838375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ru-RU" dirty="0">
                <a:latin typeface="Golos Text" panose="020B0503020202020204" pitchFamily="34" charset="0"/>
                <a:cs typeface="Golos Text" panose="020B0503020202020204" pitchFamily="34" charset="0"/>
              </a:rPr>
              <a:t>Программа ДПП ПК «Подготовка и контроль управляющих программ для станков с ЧПУ токарной группы»</a:t>
            </a: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838200" y="5454000"/>
            <a:ext cx="10515600" cy="8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Golos Text" panose="020B0503020202020204" pitchFamily="34" charset="0"/>
                <a:cs typeface="Golos Text" panose="020B0503020202020204" pitchFamily="34" charset="0"/>
              </a:rPr>
              <a:t>Москва 2025</a:t>
            </a:r>
          </a:p>
        </p:txBody>
      </p:sp>
      <p:pic>
        <p:nvPicPr>
          <p:cNvPr id="2" name="титул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0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29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10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Golos Text DemiBold" panose="020B0703020202020204" pitchFamily="34" charset="0"/>
                <a:cs typeface="Golos Text DemiBold" panose="020B0703020202020204" pitchFamily="34" charset="0"/>
              </a:rPr>
              <a:t>Структура программы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921000" y="1535085"/>
            <a:ext cx="10515600" cy="3693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Модуль 1  </a:t>
            </a:r>
            <a:r>
              <a:rPr lang="en-US" dirty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«Автоматизированная разработка управляющих программ для токарных станков с ЧПУ»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Модуль 2 </a:t>
            </a:r>
            <a:r>
              <a:rPr lang="en-US" dirty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: </a:t>
            </a:r>
            <a:r>
              <a:rPr lang="ru-RU" dirty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«Разработка управляющей программы токарной обработки на УЧПУ»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buNone/>
            </a:pPr>
            <a:endParaRPr lang="ru-RU" dirty="0">
              <a:solidFill>
                <a:schemeClr val="bg1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4" name="Содержание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7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56000" y="2349000"/>
            <a:ext cx="10515600" cy="17100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Модуль 1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: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«Автоматизированная разработка управляющих программ для токарных станков с ЧПУ»</a:t>
            </a:r>
          </a:p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Лекция </a:t>
            </a:r>
            <a:r>
              <a:rPr lang="en-US" altLang="zh-CN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#</a:t>
            </a:r>
            <a:r>
              <a:rPr lang="zh-CN" alt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en-US" altLang="zh-CN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1</a:t>
            </a:r>
            <a:r>
              <a:rPr lang="zh-CN" alt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endParaRPr lang="en-US" altLang="zh-CN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«Введение в процесс числового программного управления токарной обработки»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3" name="Л1-М1">
            <a:hlinkClick r:id="" action="ppaction://media"/>
            <a:extLst>
              <a:ext uri="{FF2B5EF4-FFF2-40B4-BE49-F238E27FC236}">
                <a16:creationId xmlns:a16="http://schemas.microsoft.com/office/drawing/2014/main" id="{D428FFA4-218E-E809-FFAA-9FD3D6A5A1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4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60"/>
    </mc:Choice>
    <mc:Fallback xmlns="">
      <p:transition spd="slow" advTm="177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11000" y="1146513"/>
            <a:ext cx="10733400" cy="398831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Числовое программное управление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</a:t>
            </a:r>
            <a:r>
              <a:rPr lang="ru-RU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процесс управления обработкой заготовки на станке по управляющей программе, в которой данные заданы в цифровой форме (здесь и далее приведена терминология ГОСТ 20523-80 Устройства числового программного управления станками. Термины и определения)</a:t>
            </a:r>
            <a:endParaRPr lang="en-US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Система числового программного управления станком СЧПУ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совокупность функционально взаимосвязанных и взаимодействующих технических и программных средств, обеспечивающих числовое программное управление станком.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ru-RU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pic>
        <p:nvPicPr>
          <p:cNvPr id="4" name="Л1-1">
            <a:hlinkClick r:id="" action="ppaction://media"/>
            <a:extLst>
              <a:ext uri="{FF2B5EF4-FFF2-40B4-BE49-F238E27FC236}">
                <a16:creationId xmlns:a16="http://schemas.microsoft.com/office/drawing/2014/main" id="{5A5B49E5-0A1E-6649-C69B-929D3276CA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0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52"/>
    </mc:Choice>
    <mc:Fallback xmlns="">
      <p:transition spd="slow" advTm="467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7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1011000" y="1146512"/>
            <a:ext cx="10733400" cy="448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Устройство числового программного управления станком (УЧПУ)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–  устройство, выдающее управляющие воздействия на исполнительные органы станка в соответствии с управляющей программой и информацией о состоянии управляемого объекта. Английское наименование </a:t>
            </a:r>
            <a:r>
              <a:rPr lang="en-US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Numerical control</a:t>
            </a: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</a:t>
            </a:r>
            <a:r>
              <a:rPr lang="en-US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NC</a:t>
            </a: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)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УЧПУ подразделяются на: 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позиционные</a:t>
            </a:r>
            <a:r>
              <a:rPr lang="zh-CN" alt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；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контурные</a:t>
            </a:r>
            <a:r>
              <a:rPr lang="zh-CN" alt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；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адаптивные 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групповые.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4" name="Л1-2">
            <a:hlinkClick r:id="" action="ppaction://media"/>
            <a:extLst>
              <a:ext uri="{FF2B5EF4-FFF2-40B4-BE49-F238E27FC236}">
                <a16:creationId xmlns:a16="http://schemas.microsoft.com/office/drawing/2014/main" id="{66A4E891-C220-BDA9-5212-ABBC064F4A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1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56"/>
    </mc:Choice>
    <mc:Fallback xmlns="">
      <p:transition spd="slow" advTm="55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4"/>
          <p:cNvSpPr txBox="1">
            <a:spLocks/>
          </p:cNvSpPr>
          <p:nvPr/>
        </p:nvSpPr>
        <p:spPr>
          <a:xfrm>
            <a:off x="1011000" y="114651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Позиционное УЧПУ</a:t>
            </a: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 устройство в котором программирование перемещений рабочих органов оборудования, происходит с заданной точки, причем траектории перемещений не задаются.</a:t>
            </a: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Контурное УЧПУ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устройство в котором программирование перемещений рабочих органов оборудования, происходит по заданной траектории и с заданной скоростью для получения необходимого контура обработки.</a:t>
            </a: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Адаптивное УЧПУ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устройство в котором обеспечивается автоматическое приспособление процесса обработки заготовки к изменяющимся условиям обработки  по определенным критериям. 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pic>
        <p:nvPicPr>
          <p:cNvPr id="2" name="Л1-3">
            <a:hlinkClick r:id="" action="ppaction://media"/>
            <a:extLst>
              <a:ext uri="{FF2B5EF4-FFF2-40B4-BE49-F238E27FC236}">
                <a16:creationId xmlns:a16="http://schemas.microsoft.com/office/drawing/2014/main" id="{1198AE06-42C8-F18D-89CA-8646FAFBAD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7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56"/>
    </mc:Choice>
    <mc:Fallback xmlns="">
      <p:transition spd="slow" advTm="55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0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1011000" y="114651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Групповое УЧПУ  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компьютеризированное устройство обеспечивающее программное управление группой станков имеющее общую память для хранения управляющих программ, распределяемых по запросам от станков. Английское наименование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Direct numerical control (DNC).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00" y="3294000"/>
            <a:ext cx="4684412" cy="2475202"/>
          </a:xfrm>
          <a:prstGeom prst="rect">
            <a:avLst/>
          </a:prstGeom>
        </p:spPr>
      </p:pic>
      <p:pic>
        <p:nvPicPr>
          <p:cNvPr id="3" name="Л1-4">
            <a:hlinkClick r:id="" action="ppaction://media"/>
            <a:extLst>
              <a:ext uri="{FF2B5EF4-FFF2-40B4-BE49-F238E27FC236}">
                <a16:creationId xmlns:a16="http://schemas.microsoft.com/office/drawing/2014/main" id="{C57D58C5-F56F-84BA-4B11-CC941F5B77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8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816"/>
    </mc:Choice>
    <mc:Fallback xmlns="">
      <p:transition spd="slow" advTm="488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8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4318500" y="2349000"/>
            <a:ext cx="3554999" cy="1504584"/>
            <a:chOff x="0" y="0"/>
            <a:chExt cx="2503528" cy="939527"/>
          </a:xfrm>
        </p:grpSpPr>
        <p:grpSp>
          <p:nvGrpSpPr>
            <p:cNvPr id="8" name="Группа 7"/>
            <p:cNvGrpSpPr/>
            <p:nvPr/>
          </p:nvGrpSpPr>
          <p:grpSpPr>
            <a:xfrm>
              <a:off x="826935" y="0"/>
              <a:ext cx="833933" cy="351130"/>
              <a:chOff x="0" y="0"/>
              <a:chExt cx="833933" cy="351130"/>
            </a:xfrm>
          </p:grpSpPr>
          <p:sp>
            <p:nvSpPr>
              <p:cNvPr id="21" name="Прямоугольник 20"/>
              <p:cNvSpPr/>
              <p:nvPr/>
            </p:nvSpPr>
            <p:spPr>
              <a:xfrm>
                <a:off x="0" y="0"/>
                <a:ext cx="833933" cy="3511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>
                  <a:ln>
                    <a:solidFill>
                      <a:srgbClr val="20426C"/>
                    </a:solidFill>
                  </a:ln>
                </a:endParaRPr>
              </a:p>
            </p:txBody>
          </p:sp>
          <p:sp>
            <p:nvSpPr>
              <p:cNvPr id="22" name="Надпись 2"/>
              <p:cNvSpPr txBox="1"/>
              <p:nvPr/>
            </p:nvSpPr>
            <p:spPr>
              <a:xfrm>
                <a:off x="175511" y="62484"/>
                <a:ext cx="534531" cy="240792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ru-RU" sz="1400" dirty="0">
                    <a:ln>
                      <a:solidFill>
                        <a:srgbClr val="20426C"/>
                      </a:solidFill>
                    </a:ln>
                    <a:effectLst/>
                    <a:latin typeface="Golos Text" panose="020B0503020202020204" pitchFamily="34" charset="0"/>
                    <a:ea typeface="Times New Roman" panose="02020603050405020304" pitchFamily="18" charset="0"/>
                    <a:cs typeface="Golos Text" panose="020B0503020202020204" pitchFamily="34" charset="0"/>
                  </a:rPr>
                  <a:t>УЧПУ</a:t>
                </a:r>
              </a:p>
            </p:txBody>
          </p:sp>
        </p:grpSp>
        <p:grpSp>
          <p:nvGrpSpPr>
            <p:cNvPr id="9" name="Группа 8"/>
            <p:cNvGrpSpPr/>
            <p:nvPr/>
          </p:nvGrpSpPr>
          <p:grpSpPr>
            <a:xfrm>
              <a:off x="0" y="588397"/>
              <a:ext cx="833933" cy="351130"/>
              <a:chOff x="0" y="0"/>
              <a:chExt cx="833933" cy="351130"/>
            </a:xfrm>
          </p:grpSpPr>
          <p:sp>
            <p:nvSpPr>
              <p:cNvPr id="19" name="Прямоугольник 18"/>
              <p:cNvSpPr/>
              <p:nvPr/>
            </p:nvSpPr>
            <p:spPr>
              <a:xfrm>
                <a:off x="0" y="0"/>
                <a:ext cx="833933" cy="351130"/>
              </a:xfrm>
              <a:prstGeom prst="rect">
                <a:avLst/>
              </a:prstGeom>
              <a:noFill/>
              <a:ln>
                <a:solidFill>
                  <a:srgbClr val="2042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>
                  <a:ln>
                    <a:solidFill>
                      <a:srgbClr val="20426C"/>
                    </a:solidFill>
                  </a:ln>
                </a:endParaRPr>
              </a:p>
            </p:txBody>
          </p:sp>
          <p:sp>
            <p:nvSpPr>
              <p:cNvPr id="20" name="Надпись 6"/>
              <p:cNvSpPr txBox="1"/>
              <p:nvPr/>
            </p:nvSpPr>
            <p:spPr>
              <a:xfrm>
                <a:off x="109728" y="58522"/>
                <a:ext cx="651053" cy="240792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400" dirty="0">
                    <a:ln>
                      <a:solidFill>
                        <a:srgbClr val="20426C"/>
                      </a:solidFill>
                    </a:ln>
                    <a:effectLst/>
                    <a:latin typeface="Golos Text" panose="020B0503020202020204" pitchFamily="34" charset="0"/>
                    <a:ea typeface="Times New Roman" panose="02020603050405020304" pitchFamily="18" charset="0"/>
                    <a:cs typeface="Golos Text" panose="020B0503020202020204" pitchFamily="34" charset="0"/>
                  </a:rPr>
                  <a:t>1</a:t>
                </a:r>
              </a:p>
            </p:txBody>
          </p:sp>
        </p:grpSp>
        <p:grpSp>
          <p:nvGrpSpPr>
            <p:cNvPr id="10" name="Группа 9"/>
            <p:cNvGrpSpPr/>
            <p:nvPr/>
          </p:nvGrpSpPr>
          <p:grpSpPr>
            <a:xfrm>
              <a:off x="1669773" y="580446"/>
              <a:ext cx="833755" cy="350520"/>
              <a:chOff x="0" y="0"/>
              <a:chExt cx="833933" cy="351130"/>
            </a:xfrm>
          </p:grpSpPr>
          <p:sp>
            <p:nvSpPr>
              <p:cNvPr id="17" name="Прямоугольник 16"/>
              <p:cNvSpPr/>
              <p:nvPr/>
            </p:nvSpPr>
            <p:spPr>
              <a:xfrm>
                <a:off x="0" y="0"/>
                <a:ext cx="833933" cy="351130"/>
              </a:xfrm>
              <a:prstGeom prst="rect">
                <a:avLst/>
              </a:prstGeom>
              <a:noFill/>
              <a:ln>
                <a:solidFill>
                  <a:srgbClr val="2042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>
                  <a:ln>
                    <a:solidFill>
                      <a:srgbClr val="20426C"/>
                    </a:solidFill>
                  </a:ln>
                </a:endParaRPr>
              </a:p>
            </p:txBody>
          </p:sp>
          <p:sp>
            <p:nvSpPr>
              <p:cNvPr id="18" name="Надпись 9"/>
              <p:cNvSpPr txBox="1"/>
              <p:nvPr/>
            </p:nvSpPr>
            <p:spPr>
              <a:xfrm>
                <a:off x="109728" y="58522"/>
                <a:ext cx="651053" cy="240792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ru-RU" sz="1400" dirty="0">
                    <a:ln>
                      <a:solidFill>
                        <a:srgbClr val="20426C"/>
                      </a:solidFill>
                    </a:ln>
                    <a:effectLst/>
                    <a:latin typeface="Golos Text" panose="020B0503020202020204" pitchFamily="34" charset="0"/>
                    <a:ea typeface="Times New Roman" panose="02020603050405020304" pitchFamily="18" charset="0"/>
                    <a:cs typeface="Golos Text" panose="020B0503020202020204" pitchFamily="34" charset="0"/>
                  </a:rPr>
                  <a:t>2</a:t>
                </a:r>
                <a:endParaRPr lang="ru-RU" sz="1200" dirty="0">
                  <a:ln>
                    <a:solidFill>
                      <a:srgbClr val="20426C"/>
                    </a:solidFill>
                  </a:ln>
                  <a:effectLst/>
                  <a:latin typeface="Golos Text" panose="020B0503020202020204" pitchFamily="34" charset="0"/>
                  <a:ea typeface="Times New Roman" panose="02020603050405020304" pitchFamily="18" charset="0"/>
                  <a:cs typeface="Golos Text" panose="020B0503020202020204" pitchFamily="34" charset="0"/>
                </a:endParaRPr>
              </a:p>
            </p:txBody>
          </p:sp>
        </p:grpSp>
        <p:grpSp>
          <p:nvGrpSpPr>
            <p:cNvPr id="11" name="Группа 10"/>
            <p:cNvGrpSpPr/>
            <p:nvPr/>
          </p:nvGrpSpPr>
          <p:grpSpPr>
            <a:xfrm>
              <a:off x="421419" y="174929"/>
              <a:ext cx="409448" cy="409651"/>
              <a:chOff x="0" y="0"/>
              <a:chExt cx="409448" cy="409651"/>
            </a:xfrm>
          </p:grpSpPr>
          <p:cxnSp>
            <p:nvCxnSpPr>
              <p:cNvPr id="15" name="Прямая соединительная линия 14"/>
              <p:cNvCxnSpPr/>
              <p:nvPr/>
            </p:nvCxnSpPr>
            <p:spPr>
              <a:xfrm flipH="1">
                <a:off x="0" y="0"/>
                <a:ext cx="409448" cy="0"/>
              </a:xfrm>
              <a:prstGeom prst="line">
                <a:avLst/>
              </a:prstGeom>
              <a:ln w="12700">
                <a:solidFill>
                  <a:srgbClr val="20426C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/>
              <p:cNvCxnSpPr/>
              <p:nvPr/>
            </p:nvCxnSpPr>
            <p:spPr>
              <a:xfrm>
                <a:off x="0" y="0"/>
                <a:ext cx="0" cy="409651"/>
              </a:xfrm>
              <a:prstGeom prst="line">
                <a:avLst/>
              </a:prstGeom>
              <a:ln w="12700">
                <a:solidFill>
                  <a:srgbClr val="20426C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Группа 11"/>
            <p:cNvGrpSpPr/>
            <p:nvPr/>
          </p:nvGrpSpPr>
          <p:grpSpPr>
            <a:xfrm flipH="1">
              <a:off x="1669773" y="182880"/>
              <a:ext cx="409448" cy="409651"/>
              <a:chOff x="0" y="0"/>
              <a:chExt cx="409448" cy="409651"/>
            </a:xfrm>
          </p:grpSpPr>
          <p:cxnSp>
            <p:nvCxnSpPr>
              <p:cNvPr id="13" name="Прямая соединительная линия 12"/>
              <p:cNvCxnSpPr/>
              <p:nvPr/>
            </p:nvCxnSpPr>
            <p:spPr>
              <a:xfrm flipH="1">
                <a:off x="0" y="0"/>
                <a:ext cx="409448" cy="0"/>
              </a:xfrm>
              <a:prstGeom prst="line">
                <a:avLst/>
              </a:prstGeom>
              <a:ln w="12700">
                <a:solidFill>
                  <a:srgbClr val="20426C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/>
              <p:cNvCxnSpPr/>
              <p:nvPr/>
            </p:nvCxnSpPr>
            <p:spPr>
              <a:xfrm>
                <a:off x="0" y="0"/>
                <a:ext cx="0" cy="409651"/>
              </a:xfrm>
              <a:prstGeom prst="line">
                <a:avLst/>
              </a:prstGeom>
              <a:ln w="12700">
                <a:solidFill>
                  <a:srgbClr val="20426C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Прямоугольник 1"/>
          <p:cNvSpPr/>
          <p:nvPr/>
        </p:nvSpPr>
        <p:spPr>
          <a:xfrm>
            <a:off x="4318500" y="4283843"/>
            <a:ext cx="377143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AutoNum type="arabicPeriod"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Аппаратное обеспечение 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*программируемое устройство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*не изменяемое устройство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2. Программное обеспечение </a:t>
            </a: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3"/>
            <a:ext cx="10733400" cy="735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Обеспечение устройства числового программного управления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3" name="Л1-5">
            <a:hlinkClick r:id="" action="ppaction://media"/>
            <a:extLst>
              <a:ext uri="{FF2B5EF4-FFF2-40B4-BE49-F238E27FC236}">
                <a16:creationId xmlns:a16="http://schemas.microsoft.com/office/drawing/2014/main" id="{6958FCFC-63D9-009A-F731-2097FEC772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6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64"/>
    </mc:Choice>
    <mc:Fallback xmlns="">
      <p:transition spd="slow" advTm="248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1011000" y="1143272"/>
            <a:ext cx="1089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Аппаратное устройство числового программного управления станком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— алгоритмы работы которого реализуются схемным путем и не могут быть изменены после изготовления устройства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Программируемое устройство числового программного управления станком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–устройство числового программного управления станком, алгоритмы работы которого реализуются с помощью программ, вводимых в его память, и могут быть изменены после изготовления устройства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Программное обеспечение системы числового программного управления станком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– совокупность программ и документации на них для реализации целей и задач системы числового программного управления станком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3" name="Л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6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05677"/>
              </p:ext>
            </p:extLst>
          </p:nvPr>
        </p:nvGraphicFramePr>
        <p:xfrm>
          <a:off x="1011000" y="1764000"/>
          <a:ext cx="10754998" cy="3510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{69012ECD-51FC-41F1-AA8D-1B2483CD663E}</a:tableStyleId>
              </a:tblPr>
              <a:tblGrid>
                <a:gridCol w="2012590">
                  <a:extLst>
                    <a:ext uri="{9D8B030D-6E8A-4147-A177-3AD203B41FA5}">
                      <a16:colId xmlns:a16="http://schemas.microsoft.com/office/drawing/2014/main" val="1088442971"/>
                    </a:ext>
                  </a:extLst>
                </a:gridCol>
                <a:gridCol w="1317410">
                  <a:extLst>
                    <a:ext uri="{9D8B030D-6E8A-4147-A177-3AD203B41FA5}">
                      <a16:colId xmlns:a16="http://schemas.microsoft.com/office/drawing/2014/main" val="555033510"/>
                    </a:ext>
                  </a:extLst>
                </a:gridCol>
                <a:gridCol w="1568972">
                  <a:extLst>
                    <a:ext uri="{9D8B030D-6E8A-4147-A177-3AD203B41FA5}">
                      <a16:colId xmlns:a16="http://schemas.microsoft.com/office/drawing/2014/main" val="3210369878"/>
                    </a:ext>
                  </a:extLst>
                </a:gridCol>
                <a:gridCol w="1428865">
                  <a:extLst>
                    <a:ext uri="{9D8B030D-6E8A-4147-A177-3AD203B41FA5}">
                      <a16:colId xmlns:a16="http://schemas.microsoft.com/office/drawing/2014/main" val="959572568"/>
                    </a:ext>
                  </a:extLst>
                </a:gridCol>
                <a:gridCol w="1315167">
                  <a:extLst>
                    <a:ext uri="{9D8B030D-6E8A-4147-A177-3AD203B41FA5}">
                      <a16:colId xmlns:a16="http://schemas.microsoft.com/office/drawing/2014/main" val="3251626866"/>
                    </a:ext>
                  </a:extLst>
                </a:gridCol>
                <a:gridCol w="1315167">
                  <a:extLst>
                    <a:ext uri="{9D8B030D-6E8A-4147-A177-3AD203B41FA5}">
                      <a16:colId xmlns:a16="http://schemas.microsoft.com/office/drawing/2014/main" val="2972875524"/>
                    </a:ext>
                  </a:extLst>
                </a:gridCol>
                <a:gridCol w="1796827">
                  <a:extLst>
                    <a:ext uri="{9D8B030D-6E8A-4147-A177-3AD203B41FA5}">
                      <a16:colId xmlns:a16="http://schemas.microsoft.com/office/drawing/2014/main" val="1963209889"/>
                    </a:ext>
                  </a:extLst>
                </a:gridCol>
              </a:tblGrid>
              <a:tr h="511875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Тип УЧПУ по функциональной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ориентации управляемых станков 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Класс УЧПУ по возможностям формообразования и дополнительным признакам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Условное обозначение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(русское</a:t>
                      </a:r>
                      <a:r>
                        <a:rPr lang="en-US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/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латинское)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09442"/>
                  </a:ext>
                </a:extLst>
              </a:tr>
              <a:tr h="10237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Цикловой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Позиционный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Контурный по двум осям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Контурный по трем осям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Контурный по более чем  по трем осям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96108"/>
                  </a:ext>
                </a:extLst>
              </a:tr>
              <a:tr h="25593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3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4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93042"/>
                  </a:ext>
                </a:extLst>
              </a:tr>
              <a:tr h="17184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  Токарные станки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Нарезание </a:t>
                      </a:r>
                      <a:r>
                        <a:rPr lang="ru-RU" sz="1600" b="0" dirty="0" err="1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резьб</a:t>
                      </a: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,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включая коническую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Угловое </a:t>
                      </a:r>
                      <a:r>
                        <a:rPr lang="ru-RU" sz="1600" b="0" dirty="0" err="1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позициони-рованиеие</a:t>
                      </a: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 шпинделей;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Нарезание конической резьбы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Нарезание конической резьбы на </a:t>
                      </a:r>
                      <a:r>
                        <a:rPr lang="ru-RU" sz="1600" b="0" dirty="0" err="1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двухш-пиндельных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станках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Т</a:t>
                      </a:r>
                      <a:r>
                        <a:rPr lang="en-US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/</a:t>
                      </a: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Т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25298" marR="25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711861"/>
                  </a:ext>
                </a:extLst>
              </a:tr>
            </a:tbl>
          </a:graphicData>
        </a:graphic>
      </p:graphicFrame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921000" y="6129000"/>
            <a:ext cx="10823400" cy="305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 - ГОСТ 21021-2000</a:t>
            </a:r>
            <a:r>
              <a:rPr lang="en-US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Устройства числового программного управления Общие технические требования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1011000" y="1143273"/>
            <a:ext cx="10733400" cy="735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Особенности УЧПУ для токарных станков</a:t>
            </a:r>
            <a:r>
              <a:rPr lang="ru-RU" sz="17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3" name="Л1-7">
            <a:hlinkClick r:id="" action="ppaction://media"/>
            <a:extLst>
              <a:ext uri="{FF2B5EF4-FFF2-40B4-BE49-F238E27FC236}">
                <a16:creationId xmlns:a16="http://schemas.microsoft.com/office/drawing/2014/main" id="{6B1C1F40-3278-A414-BE54-23D8C39E58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11000" y="377600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9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440"/>
    </mc:Choice>
    <mc:Fallback xmlns="">
      <p:transition spd="slow" advTm="97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890000" cy="6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Основные технологические функции  УЧПУ для токарных станков</a:t>
            </a:r>
            <a:r>
              <a:rPr lang="ru-RU" sz="16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23" name="Объект 4"/>
          <p:cNvSpPr txBox="1">
            <a:spLocks/>
          </p:cNvSpPr>
          <p:nvPr/>
        </p:nvSpPr>
        <p:spPr>
          <a:xfrm>
            <a:off x="921000" y="6129000"/>
            <a:ext cx="10823400" cy="305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 - ГОСТ 21021-2000</a:t>
            </a:r>
            <a:r>
              <a:rPr lang="en-US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Устройства числового программного управления Общие технические требования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64956"/>
              </p:ext>
            </p:extLst>
          </p:nvPr>
        </p:nvGraphicFramePr>
        <p:xfrm>
          <a:off x="1777500" y="1825459"/>
          <a:ext cx="9110400" cy="301485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{69012ECD-51FC-41F1-AA8D-1B2483CD663E}</a:tableStyleId>
              </a:tblPr>
              <a:tblGrid>
                <a:gridCol w="6948000">
                  <a:extLst>
                    <a:ext uri="{9D8B030D-6E8A-4147-A177-3AD203B41FA5}">
                      <a16:colId xmlns:a16="http://schemas.microsoft.com/office/drawing/2014/main" val="3131718950"/>
                    </a:ext>
                  </a:extLst>
                </a:gridCol>
                <a:gridCol w="431718">
                  <a:extLst>
                    <a:ext uri="{9D8B030D-6E8A-4147-A177-3AD203B41FA5}">
                      <a16:colId xmlns:a16="http://schemas.microsoft.com/office/drawing/2014/main" val="48944429"/>
                    </a:ext>
                  </a:extLst>
                </a:gridCol>
                <a:gridCol w="431718">
                  <a:extLst>
                    <a:ext uri="{9D8B030D-6E8A-4147-A177-3AD203B41FA5}">
                      <a16:colId xmlns:a16="http://schemas.microsoft.com/office/drawing/2014/main" val="331202559"/>
                    </a:ext>
                  </a:extLst>
                </a:gridCol>
                <a:gridCol w="431718">
                  <a:extLst>
                    <a:ext uri="{9D8B030D-6E8A-4147-A177-3AD203B41FA5}">
                      <a16:colId xmlns:a16="http://schemas.microsoft.com/office/drawing/2014/main" val="3292248801"/>
                    </a:ext>
                  </a:extLst>
                </a:gridCol>
                <a:gridCol w="433623">
                  <a:extLst>
                    <a:ext uri="{9D8B030D-6E8A-4147-A177-3AD203B41FA5}">
                      <a16:colId xmlns:a16="http://schemas.microsoft.com/office/drawing/2014/main" val="924114038"/>
                    </a:ext>
                  </a:extLst>
                </a:gridCol>
                <a:gridCol w="433623">
                  <a:extLst>
                    <a:ext uri="{9D8B030D-6E8A-4147-A177-3AD203B41FA5}">
                      <a16:colId xmlns:a16="http://schemas.microsoft.com/office/drawing/2014/main" val="983294904"/>
                    </a:ext>
                  </a:extLst>
                </a:gridCol>
              </a:tblGrid>
              <a:tr h="39134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Технологическая функция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Класс</a:t>
                      </a:r>
                      <a:r>
                        <a:rPr lang="ru-RU" sz="1600" baseline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 </a:t>
                      </a: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УЧПУ для токарных станков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29303"/>
                  </a:ext>
                </a:extLst>
              </a:tr>
              <a:tr h="1956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1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2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3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4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675011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Позиционирование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763782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Контурная обработка по двум осям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914930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Контурная обработка по трем осям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730126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Виды интерполяции </a:t>
                      </a:r>
                      <a:r>
                        <a:rPr lang="en-US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: </a:t>
                      </a: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линейная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726828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круговая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903877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винтовая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95845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c</a:t>
                      </a:r>
                      <a:r>
                        <a:rPr lang="ru-RU" sz="1600" b="0" dirty="0" err="1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плайн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02677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Нарезка резьбы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80699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Позиционирование</a:t>
                      </a:r>
                      <a:r>
                        <a:rPr lang="ru-RU" sz="1600" b="0" baseline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 шпинделя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-</a:t>
                      </a: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-</a:t>
                      </a: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Р</a:t>
                      </a: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О</a:t>
                      </a: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ea typeface="Times New Roman" panose="02020603050405020304" pitchFamily="18" charset="0"/>
                          <a:cs typeface="Golos Text" panose="020B0503020202020204" pitchFamily="34" charset="0"/>
                        </a:rPr>
                        <a:t>О</a:t>
                      </a: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391084"/>
                  </a:ext>
                </a:extLst>
              </a:tr>
            </a:tbl>
          </a:graphicData>
        </a:graphic>
      </p:graphicFrame>
      <p:sp>
        <p:nvSpPr>
          <p:cNvPr id="7" name="Объект 4"/>
          <p:cNvSpPr txBox="1">
            <a:spLocks/>
          </p:cNvSpPr>
          <p:nvPr/>
        </p:nvSpPr>
        <p:spPr>
          <a:xfrm>
            <a:off x="939150" y="5092098"/>
            <a:ext cx="10805250" cy="590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600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0-цикловой класс УЧПУ; 1-позиционный класс УЧПУ; 2-контурный по 2м осям ; 3-контурный по 3м осям; 4-по более чем 3м осям класс УЧПУ</a:t>
            </a:r>
            <a:endParaRPr lang="ru-RU" sz="1400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3" name="Л1-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0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49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1011000" y="1143272"/>
            <a:ext cx="10890000" cy="6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Основные технологические функции  УЧПУ для токарных станков</a:t>
            </a:r>
            <a:r>
              <a:rPr lang="ru-RU" sz="16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921000" y="6129000"/>
            <a:ext cx="10823400" cy="305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* - ГОСТ 21021-2000</a:t>
            </a:r>
            <a:r>
              <a:rPr lang="en-US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Устройства числового программного управления Общие технические требования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10" name="Объект 4"/>
          <p:cNvSpPr txBox="1">
            <a:spLocks/>
          </p:cNvSpPr>
          <p:nvPr/>
        </p:nvSpPr>
        <p:spPr>
          <a:xfrm>
            <a:off x="939150" y="5092098"/>
            <a:ext cx="10805250" cy="590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600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0-цикловой класс УЧПУ; 1-позиционный класс УЧПУ; 2-контурный по 2м осям ; 3-контурный по 3м осям; 4-по более чем 3м осям класс УЧПУ</a:t>
            </a:r>
            <a:endParaRPr lang="ru-RU" sz="1400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152676"/>
              </p:ext>
            </p:extLst>
          </p:nvPr>
        </p:nvGraphicFramePr>
        <p:xfrm>
          <a:off x="1777500" y="1825459"/>
          <a:ext cx="9110400" cy="301485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{69012ECD-51FC-41F1-AA8D-1B2483CD663E}</a:tableStyleId>
              </a:tblPr>
              <a:tblGrid>
                <a:gridCol w="6948000">
                  <a:extLst>
                    <a:ext uri="{9D8B030D-6E8A-4147-A177-3AD203B41FA5}">
                      <a16:colId xmlns:a16="http://schemas.microsoft.com/office/drawing/2014/main" val="3131718950"/>
                    </a:ext>
                  </a:extLst>
                </a:gridCol>
                <a:gridCol w="431718">
                  <a:extLst>
                    <a:ext uri="{9D8B030D-6E8A-4147-A177-3AD203B41FA5}">
                      <a16:colId xmlns:a16="http://schemas.microsoft.com/office/drawing/2014/main" val="48944429"/>
                    </a:ext>
                  </a:extLst>
                </a:gridCol>
                <a:gridCol w="431718">
                  <a:extLst>
                    <a:ext uri="{9D8B030D-6E8A-4147-A177-3AD203B41FA5}">
                      <a16:colId xmlns:a16="http://schemas.microsoft.com/office/drawing/2014/main" val="331202559"/>
                    </a:ext>
                  </a:extLst>
                </a:gridCol>
                <a:gridCol w="431718">
                  <a:extLst>
                    <a:ext uri="{9D8B030D-6E8A-4147-A177-3AD203B41FA5}">
                      <a16:colId xmlns:a16="http://schemas.microsoft.com/office/drawing/2014/main" val="3292248801"/>
                    </a:ext>
                  </a:extLst>
                </a:gridCol>
                <a:gridCol w="433623">
                  <a:extLst>
                    <a:ext uri="{9D8B030D-6E8A-4147-A177-3AD203B41FA5}">
                      <a16:colId xmlns:a16="http://schemas.microsoft.com/office/drawing/2014/main" val="924114038"/>
                    </a:ext>
                  </a:extLst>
                </a:gridCol>
                <a:gridCol w="433623">
                  <a:extLst>
                    <a:ext uri="{9D8B030D-6E8A-4147-A177-3AD203B41FA5}">
                      <a16:colId xmlns:a16="http://schemas.microsoft.com/office/drawing/2014/main" val="983294904"/>
                    </a:ext>
                  </a:extLst>
                </a:gridCol>
              </a:tblGrid>
              <a:tr h="39134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Golos Text" panose="020B0503020202020204" pitchFamily="34" charset="0"/>
                        <a:cs typeface="Golos Text" panose="020B0503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Технологическая функция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Класс</a:t>
                      </a:r>
                      <a:r>
                        <a:rPr lang="ru-RU" sz="1600" baseline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 </a:t>
                      </a:r>
                      <a:r>
                        <a:rPr lang="ru-RU" sz="160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УЧПУ для токарных станков</a:t>
                      </a:r>
                      <a:endParaRPr lang="ru-RU" sz="160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29303"/>
                  </a:ext>
                </a:extLst>
              </a:tr>
              <a:tr h="1956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1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2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3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4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675011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Возможность корректировки подачи на ходу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763782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Программная компенсация систематической погрешности по осям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914930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Автоматическая смена инструмента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730126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Программная компенсация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0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726828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Обработка с защитным припуском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903877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Задание размера с числовым или буквенным допуском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95845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Функция «Предустановка»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02677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Рекомендации оператору по режимам обработки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Р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80699"/>
                  </a:ext>
                </a:extLst>
              </a:tr>
              <a:tr h="215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Учет радиуса инструмента(эквидистанта)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-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0426C"/>
                          </a:solidFill>
                          <a:effectLst/>
                          <a:latin typeface="Golos Text" panose="020B0503020202020204" pitchFamily="34" charset="0"/>
                          <a:cs typeface="Golos Text" panose="020B0503020202020204" pitchFamily="34" charset="0"/>
                        </a:rPr>
                        <a:t>О</a:t>
                      </a:r>
                      <a:endParaRPr lang="ru-RU" sz="1600" b="0" dirty="0">
                        <a:solidFill>
                          <a:srgbClr val="20426C"/>
                        </a:solidFill>
                        <a:effectLst/>
                        <a:latin typeface="Golos Text" panose="020B0503020202020204" pitchFamily="34" charset="0"/>
                        <a:ea typeface="Times New Roman" panose="02020603050405020304" pitchFamily="18" charset="0"/>
                        <a:cs typeface="Golos Text" panose="020B0503020202020204" pitchFamily="34" charset="0"/>
                      </a:endParaRPr>
                    </a:p>
                  </a:txBody>
                  <a:tcPr marL="68567" marR="6856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391084"/>
                  </a:ext>
                </a:extLst>
              </a:tr>
            </a:tbl>
          </a:graphicData>
        </a:graphic>
      </p:graphicFrame>
      <p:pic>
        <p:nvPicPr>
          <p:cNvPr id="2" name="Л1-9">
            <a:hlinkClick r:id="" action="ppaction://media"/>
            <a:extLst>
              <a:ext uri="{FF2B5EF4-FFF2-40B4-BE49-F238E27FC236}">
                <a16:creationId xmlns:a16="http://schemas.microsoft.com/office/drawing/2014/main" id="{42CDDD6C-7C03-D247-35DE-F72F1231E0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6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464"/>
    </mc:Choice>
    <mc:Fallback xmlns="">
      <p:transition spd="slow" advTm="88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4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Процесс механической обработки заготовок на токарных станках с числовым программным управлением осуществляется в результате рабочих движений заготовки и инструмента, а точность получаемых при этом размеров определяется точностью расположения вершины резца относительно оси вращающейся заготовки.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Для обеспечения требуемой точности размеров детали инструмент и заготовка должны занимать строго определенное положение  друг относительно друга при обработке той или иной поверхности.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0">
            <a:hlinkClick r:id="" action="ppaction://media"/>
            <a:extLst>
              <a:ext uri="{FF2B5EF4-FFF2-40B4-BE49-F238E27FC236}">
                <a16:creationId xmlns:a16="http://schemas.microsoft.com/office/drawing/2014/main" id="{C88B41D4-FE72-0DB2-EA6A-78CA3AB8F6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320"/>
    </mc:Choice>
    <mc:Fallback xmlns="">
      <p:transition spd="slow" advTm="46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3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089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Выполнить эти условия в автоматическом режиме можно лишь в том случае, если исполнительные органы станка перемещать в выбранной системе координат. Задавая координаты исполнительных органов в управляющей программе, можно обеспечить обработку заготовки по определенному контуру.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Следовательно, обязательное условие, обеспечивающее обработку заготовок с заданной точностью, – наличие систем координат в станке, которые можно выбрать различным образом.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1">
            <a:hlinkClick r:id="" action="ppaction://media"/>
            <a:extLst>
              <a:ext uri="{FF2B5EF4-FFF2-40B4-BE49-F238E27FC236}">
                <a16:creationId xmlns:a16="http://schemas.microsoft.com/office/drawing/2014/main" id="{F60BCBD5-7B60-F95D-C403-314606FC6C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5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32"/>
    </mc:Choice>
    <mc:Fallback xmlns="">
      <p:transition spd="slow" advTm="40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089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Для сокращения трудозатрат при составлении управляющей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программы, упрощения наладки станка и уменьшения объема необходимых вычислений выбор систем координат и направления осей, по которым перемещаются исполнительные органы станка, стандартизованы.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В ГОСТе 23597-79 Станки металлорежущие с числовым программным управлением .Обозначение осей координат и направлений движений. Приведены примеры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2">
            <a:hlinkClick r:id="" action="ppaction://media"/>
            <a:extLst>
              <a:ext uri="{FF2B5EF4-FFF2-40B4-BE49-F238E27FC236}">
                <a16:creationId xmlns:a16="http://schemas.microsoft.com/office/drawing/2014/main" id="{33EF7106-5FDE-D70C-8629-DBCA7B44D3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00"/>
    </mc:Choice>
    <mc:Fallback xmlns="">
      <p:transition spd="slow" advTm="468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089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В стандартной системе координат станка положительные направления осей X, Y, Z определяются по правилу правой руки.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Большой палец указывает положительное направление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оси абсцисс (X), указательный – оси ординат (У), средний – оси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аппликат (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Z).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000" y="3699000"/>
            <a:ext cx="3121204" cy="2400098"/>
          </a:xfrm>
          <a:prstGeom prst="rect">
            <a:avLst/>
          </a:prstGeom>
        </p:spPr>
      </p:pic>
      <p:pic>
        <p:nvPicPr>
          <p:cNvPr id="3" name="Л1-13">
            <a:hlinkClick r:id="" action="ppaction://media"/>
            <a:extLst>
              <a:ext uri="{FF2B5EF4-FFF2-40B4-BE49-F238E27FC236}">
                <a16:creationId xmlns:a16="http://schemas.microsoft.com/office/drawing/2014/main" id="{86C86550-8075-AF97-5E4D-5AC0B16825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9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48"/>
    </mc:Choice>
    <mc:Fallback xmlns="">
      <p:transition spd="slow" advTm="354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4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382" y="3540588"/>
            <a:ext cx="2607698" cy="2716921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107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Положительные направления вращения вокруг осей X, Y, Z определяются вторым правилом правой руки. Согласно этому правилу большой палец располагают поочередно по направлению оси X, Y, Z, тогда остальные согнутые пальцы укажут положительное направление вращения относительно рассматриваемой оси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4">
            <a:hlinkClick r:id="" action="ppaction://media"/>
            <a:extLst>
              <a:ext uri="{FF2B5EF4-FFF2-40B4-BE49-F238E27FC236}">
                <a16:creationId xmlns:a16="http://schemas.microsoft.com/office/drawing/2014/main" id="{C4D1B255-FFAD-F8AC-1B62-DD2ED0E7B9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1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32"/>
    </mc:Choice>
    <mc:Fallback xmlns="">
      <p:transition spd="slow" advTm="46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107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Движение по оси </a:t>
            </a:r>
            <a:r>
              <a:rPr lang="en-US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</a:t>
            </a:r>
            <a:endParaRPr lang="ru-RU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en-US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Ось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определяется по отношению к шпинделю главного движения, то есть шпинделя вращающего заготовку в станках токарной группы.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При неповоротной оси основного шпинделя одну из трех осей стандартной </a:t>
            </a:r>
            <a:r>
              <a:rPr lang="ru-RU" sz="2400" dirty="0" err="1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трехкоординатной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системы, параллельную оси шпинделя, следует принять за ось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.Движение по оси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в положительном направлении должно соответствовать направлению отвода инструмента от заготовки.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5">
            <a:hlinkClick r:id="" action="ppaction://media"/>
            <a:extLst>
              <a:ext uri="{FF2B5EF4-FFF2-40B4-BE49-F238E27FC236}">
                <a16:creationId xmlns:a16="http://schemas.microsoft.com/office/drawing/2014/main" id="{D2BAAA40-0913-2D80-FC37-BC809228F0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4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92"/>
    </mc:Choice>
    <mc:Fallback xmlns="">
      <p:transition spd="slow" advTm="373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3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107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Движение по оси </a:t>
            </a:r>
            <a:r>
              <a:rPr lang="en-US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X</a:t>
            </a:r>
            <a:endParaRPr lang="ru-RU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en-US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Ось Х должна быть расположена предпочтительно горизонтально и параллельно поверхности крепления заготовки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 токарных станках движение по оси Х направлено по радиусу заготовки и параллельно поперечным направляющим. Положительное движение по оси Х происходит, когда инструмент, установленный на главном резцедержателе поперечных салазок, отходит от оси вращения заготовки.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6">
            <a:hlinkClick r:id="" action="ppaction://media"/>
            <a:extLst>
              <a:ext uri="{FF2B5EF4-FFF2-40B4-BE49-F238E27FC236}">
                <a16:creationId xmlns:a16="http://schemas.microsoft.com/office/drawing/2014/main" id="{DC359BBA-4DFA-652F-18BE-3A774F1ABA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1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04"/>
    </mc:Choice>
    <mc:Fallback xmlns="">
      <p:transition spd="slow" advTm="347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7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107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Движение по оси </a:t>
            </a:r>
            <a:r>
              <a:rPr lang="en-US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Y</a:t>
            </a:r>
            <a:endParaRPr lang="ru-RU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en-US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Положительное направление движения по оси </a:t>
            </a:r>
            <a:r>
              <a:rPr lang="en-US" altLang="zh-CN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Y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следует выбирать так, чтобы ось </a:t>
            </a:r>
            <a:r>
              <a:rPr lang="en-US" altLang="zh-CN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Y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вместе с осями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и Х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образовывала  правую прямоугольную систему координат </a:t>
            </a: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Начало стандартной системы координат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Расположение начала стандартной системы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координат (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X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=0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Y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=0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=0) следует выбирать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произвольно 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05" y="3758988"/>
            <a:ext cx="3321825" cy="2611377"/>
          </a:xfrm>
          <a:prstGeom prst="rect">
            <a:avLst/>
          </a:prstGeom>
        </p:spPr>
      </p:pic>
      <p:pic>
        <p:nvPicPr>
          <p:cNvPr id="2" name="Л1-17">
            <a:hlinkClick r:id="" action="ppaction://media"/>
            <a:extLst>
              <a:ext uri="{FF2B5EF4-FFF2-40B4-BE49-F238E27FC236}">
                <a16:creationId xmlns:a16="http://schemas.microsoft.com/office/drawing/2014/main" id="{D287494A-52B8-9090-78D1-3B01F1831E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5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12"/>
    </mc:Choice>
    <mc:Fallback xmlns="">
      <p:transition spd="slow" advTm="40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3272"/>
            <a:ext cx="110700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230400" indent="23040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Вращательные движения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en-US" sz="2400" b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Направление поворота вокруг осей X,Y и Z задается в управляющей программе адресами А,В и С соответственно, а направление вращения вокруг оси Z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для токарного станка – адресом С.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Дополнительные движения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Если дополнительно к первичным прямолинейным движениям X,Y,Z имеются вторичные движения параллельно им, их следует обозначать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U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,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V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и 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W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18">
            <a:hlinkClick r:id="" action="ppaction://media"/>
            <a:extLst>
              <a:ext uri="{FF2B5EF4-FFF2-40B4-BE49-F238E27FC236}">
                <a16:creationId xmlns:a16="http://schemas.microsoft.com/office/drawing/2014/main" id="{D95CDF91-226C-C978-366B-EA308F500C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5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840"/>
    </mc:Choice>
    <mc:Fallback xmlns="">
      <p:transition spd="slow" advTm="42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 rot="10800000" flipV="1">
            <a:off x="1004452" y="4647533"/>
            <a:ext cx="2586600" cy="3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Токарно-винторезный станок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06" y="2366403"/>
            <a:ext cx="2706090" cy="224813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593" y="2333410"/>
            <a:ext cx="2759388" cy="2314123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 rot="10800000" flipV="1">
            <a:off x="4823685" y="4647533"/>
            <a:ext cx="2586600" cy="3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Токарно-револьверный станок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88" y="1944000"/>
            <a:ext cx="2699542" cy="2802803"/>
          </a:xfrm>
          <a:prstGeom prst="rect">
            <a:avLst/>
          </a:prstGeom>
        </p:spPr>
      </p:pic>
      <p:sp>
        <p:nvSpPr>
          <p:cNvPr id="13" name="Объект 4"/>
          <p:cNvSpPr txBox="1">
            <a:spLocks/>
          </p:cNvSpPr>
          <p:nvPr/>
        </p:nvSpPr>
        <p:spPr>
          <a:xfrm rot="10800000" flipV="1">
            <a:off x="8848839" y="4647533"/>
            <a:ext cx="2586600" cy="3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Токарно-карусельный станок 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967" y="4764346"/>
            <a:ext cx="1272784" cy="130813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00" y="5419152"/>
            <a:ext cx="1800000" cy="653333"/>
          </a:xfrm>
          <a:prstGeom prst="rect">
            <a:avLst/>
          </a:prstGeom>
        </p:spPr>
      </p:pic>
      <p:pic>
        <p:nvPicPr>
          <p:cNvPr id="7" name="Л1-1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0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38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Системы координат и движения по осям токарного станка с ЧПУ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 rot="10800000" flipV="1">
            <a:off x="1004452" y="4647533"/>
            <a:ext cx="2586600" cy="3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12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Лоботокарный станок</a:t>
            </a: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00" y="5419152"/>
            <a:ext cx="1800000" cy="65333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49" y="2498140"/>
            <a:ext cx="2692203" cy="216431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653" y="2142360"/>
            <a:ext cx="2959365" cy="3209311"/>
          </a:xfrm>
          <a:prstGeom prst="rect">
            <a:avLst/>
          </a:prstGeom>
        </p:spPr>
      </p:pic>
      <p:pic>
        <p:nvPicPr>
          <p:cNvPr id="18" name="Л1-2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6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912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Пространственные точки токарного станка с ЧПУ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При обработке заготовки на токарном станке с ЧПУ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используют три координатные системы. Первая система – система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координат станка, которая имеет начало отсчета в точке М </a:t>
            </a:r>
            <a:r>
              <a:rPr lang="ru-RU" sz="2400" dirty="0">
                <a:solidFill>
                  <a:srgbClr val="20426C"/>
                </a:solidFill>
              </a:rPr>
              <a:t>от первой буквы английского слова «</a:t>
            </a:r>
            <a:r>
              <a:rPr lang="ru-RU" sz="2400" dirty="0" err="1">
                <a:solidFill>
                  <a:srgbClr val="20426C"/>
                </a:solidFill>
              </a:rPr>
              <a:t>machine</a:t>
            </a:r>
            <a:r>
              <a:rPr lang="ru-RU" sz="2400" dirty="0">
                <a:solidFill>
                  <a:srgbClr val="20426C"/>
                </a:solidFill>
              </a:rPr>
              <a:t>», которое в переводе на русский язык означает «станок».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Нулевая точка станка 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определяется изготовителем и не может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быть изменена.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00" y="3654000"/>
            <a:ext cx="3150000" cy="2340000"/>
          </a:xfrm>
          <a:prstGeom prst="rect">
            <a:avLst/>
          </a:prstGeom>
        </p:spPr>
      </p:pic>
      <p:pic>
        <p:nvPicPr>
          <p:cNvPr id="2" name="Л1-2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Пространственные точки токарного станка с ЧПУ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Вторая координатная система представляет собой систему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координат детали (программы обработки детали) Ноль детали здесь обозначается буквой W от первой буквы английского слова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</a:t>
            </a:r>
            <a:r>
              <a:rPr lang="ru-RU" sz="2400" dirty="0" err="1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workpeace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», которое означает в переводе на русский язык «заготовка». Она может быть выбрана произвольно и должна располагаться там, где начинается отсчет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большинства размеров на рабочем чертеже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изделия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00" y="3654000"/>
            <a:ext cx="3150000" cy="2340000"/>
          </a:xfrm>
          <a:prstGeom prst="rect">
            <a:avLst/>
          </a:prstGeom>
        </p:spPr>
      </p:pic>
      <p:pic>
        <p:nvPicPr>
          <p:cNvPr id="2" name="Л1-2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Пространственные точки токарного станка с ЧПУ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Третья система координат – система координат режущего инструмента,  в которой определено положение вершины резца относительно базовой точки элемента станка, несущего инструмент. Ноль инструмента обозначается первой буквой </a:t>
            </a:r>
            <a:r>
              <a:rPr lang="ru-RU" sz="2400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 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 английского слова «</a:t>
            </a:r>
            <a:r>
              <a:rPr lang="ru-RU" sz="2400" dirty="0" err="1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tool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», которое в переводе означает «инструмент»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00" y="3654000"/>
            <a:ext cx="3150000" cy="2340000"/>
          </a:xfrm>
          <a:prstGeom prst="rect">
            <a:avLst/>
          </a:prstGeom>
        </p:spPr>
      </p:pic>
      <p:pic>
        <p:nvPicPr>
          <p:cNvPr id="2" name="Л1-2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0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#1</a:t>
            </a:r>
            <a:endParaRPr lang="ru-RU" sz="3200" dirty="0">
              <a:solidFill>
                <a:srgbClr val="20426C"/>
              </a:solidFill>
            </a:endParaRPr>
          </a:p>
        </p:txBody>
      </p:sp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Пространственные точки токарного станка с ЧПУ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Референтная точка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Для обнуления измерительной системы осуществляется подвод к </a:t>
            </a:r>
            <a:r>
              <a:rPr lang="ru-RU" sz="2400" dirty="0" err="1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референтной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точке R, от английского слова «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reference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»,  так как подвод к нулевой точке станка в большинстве случаев невозможен.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Таким образом СЧПУ находит свое начало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отсчета в системе измерения перемещения.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00" y="3654000"/>
            <a:ext cx="3150000" cy="2340000"/>
          </a:xfrm>
          <a:prstGeom prst="rect">
            <a:avLst/>
          </a:prstGeom>
        </p:spPr>
      </p:pic>
      <p:pic>
        <p:nvPicPr>
          <p:cNvPr id="2" name="Л1-2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7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3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4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Благодарю за внимание!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2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9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1681</Words>
  <Application>Microsoft Office PowerPoint</Application>
  <PresentationFormat>Широкоэкранный</PresentationFormat>
  <Paragraphs>343</Paragraphs>
  <Slides>28</Slides>
  <Notes>0</Notes>
  <HiddenSlides>0</HiddenSlides>
  <MMClips>28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Golos Text</vt:lpstr>
      <vt:lpstr>Golos Text DemiBold</vt:lpstr>
      <vt:lpstr>Wingdings</vt:lpstr>
      <vt:lpstr>Тема Office</vt:lpstr>
      <vt:lpstr>Презентация PowerPoint</vt:lpstr>
      <vt:lpstr>Структура программы</vt:lpstr>
      <vt:lpstr> 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Лекция #1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СТАНКИН</dc:creator>
  <cp:lastModifiedBy>Наталия Широких</cp:lastModifiedBy>
  <cp:revision>61</cp:revision>
  <dcterms:created xsi:type="dcterms:W3CDTF">2025-08-21T14:41:06Z</dcterms:created>
  <dcterms:modified xsi:type="dcterms:W3CDTF">2025-11-10T21:02:25Z</dcterms:modified>
</cp:coreProperties>
</file>