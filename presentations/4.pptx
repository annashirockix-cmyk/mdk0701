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60" r:id="rId4"/>
    <p:sldId id="329" r:id="rId5"/>
    <p:sldId id="330" r:id="rId6"/>
    <p:sldId id="324" r:id="rId7"/>
    <p:sldId id="326" r:id="rId8"/>
    <p:sldId id="327" r:id="rId9"/>
    <p:sldId id="331" r:id="rId10"/>
    <p:sldId id="332" r:id="rId11"/>
    <p:sldId id="333" r:id="rId12"/>
    <p:sldId id="325" r:id="rId13"/>
    <p:sldId id="32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26C"/>
    <a:srgbClr val="D82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3187" autoAdjust="0"/>
  </p:normalViewPr>
  <p:slideViewPr>
    <p:cSldViewPr showGuides="1">
      <p:cViewPr varScale="1">
        <p:scale>
          <a:sx n="76" d="100"/>
          <a:sy n="76" d="100"/>
        </p:scale>
        <p:origin x="94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E794E-07A7-49FC-A8B8-E81D8C8B93A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C1104-E05B-48F9-B5D8-79FB746F6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08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61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1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20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69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81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03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04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4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6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96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1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30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jpe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media" Target="../media/media8.mp3"/><Relationship Id="rId7" Type="http://schemas.openxmlformats.org/officeDocument/2006/relationships/image" Target="../media/image19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8.mp3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875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56000" y="2762312"/>
            <a:ext cx="10515600" cy="83837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>
                <a:latin typeface="Golos Text" panose="020B0503020202020204" pitchFamily="34" charset="0"/>
                <a:cs typeface="Golos Text" panose="020B0503020202020204" pitchFamily="34" charset="0"/>
              </a:rPr>
              <a:t>Программа ДПО «Подготовка и контроль управляющих программ для станков с ЧПУ токарной группы»</a:t>
            </a:r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838200" y="5454000"/>
            <a:ext cx="10515600" cy="8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Golos Text" panose="020B0503020202020204" pitchFamily="34" charset="0"/>
                <a:cs typeface="Golos Text" panose="020B0503020202020204" pitchFamily="34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313000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Титул">
            <a:hlinkClick r:id="" action="ppaction://media"/>
            <a:extLst>
              <a:ext uri="{FF2B5EF4-FFF2-40B4-BE49-F238E27FC236}">
                <a16:creationId xmlns:a16="http://schemas.microsoft.com/office/drawing/2014/main" id="{8C4030A5-8133-FD97-AF52-01DB82DAAE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0767" y="5710725"/>
            <a:ext cx="632683" cy="588143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56000" y="2349000"/>
            <a:ext cx="10515600" cy="1710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Модуль 1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: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«Автоматизированная разработка управляющих программ для токарных станков с ЧПУ»</a:t>
            </a:r>
          </a:p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Лекция </a:t>
            </a:r>
            <a:r>
              <a:rPr lang="en-US" altLang="zh-CN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#</a:t>
            </a:r>
            <a:r>
              <a:rPr lang="ru-RU" altLang="zh-CN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4</a:t>
            </a:r>
            <a:r>
              <a:rPr lang="zh-CN" alt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</a:t>
            </a:r>
            <a:endParaRPr lang="en-US" altLang="zh-CN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«Разработка и контроль УП для комбинированной обработки»</a:t>
            </a:r>
          </a:p>
        </p:txBody>
      </p:sp>
    </p:spTree>
    <p:extLst>
      <p:ext uri="{BB962C8B-B14F-4D97-AF65-F5344CB8AC3E}">
        <p14:creationId xmlns:p14="http://schemas.microsoft.com/office/powerpoint/2010/main" val="169244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55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2703" y="4056723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Продольное точение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06" y="4083043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Подрезка </a:t>
            </a:r>
            <a:endParaRPr lang="en-US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торца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800" y="4088318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Профильное точение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04E6D33-589A-691D-CDBC-28E0256DC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327" y="2360798"/>
            <a:ext cx="2364655" cy="1633412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7EF5B0-732B-1AE7-D2D1-F119D1A8F7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700" y="2360798"/>
            <a:ext cx="2340000" cy="163341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6208003-4C26-5271-91E8-F10236781B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418" y="2360798"/>
            <a:ext cx="2364655" cy="163341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5E98090-EB2E-3DFA-9558-3BBF7934F8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" t="1505" r="9904" b="3272"/>
          <a:stretch>
            <a:fillRect/>
          </a:stretch>
        </p:blipFill>
        <p:spPr>
          <a:xfrm>
            <a:off x="8881791" y="2360798"/>
            <a:ext cx="2347273" cy="16353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59C52CF-A2BD-E86A-E2D0-D9BDAB5B0FA0}"/>
              </a:ext>
            </a:extLst>
          </p:cNvPr>
          <p:cNvSpPr txBox="1"/>
          <p:nvPr/>
        </p:nvSpPr>
        <p:spPr>
          <a:xfrm>
            <a:off x="8904897" y="4069436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Нарезание внешней резьбы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C60ED-C4A9-A06F-AA68-4DE6E83543EE}"/>
              </a:ext>
            </a:extLst>
          </p:cNvPr>
          <p:cNvSpPr txBox="1"/>
          <p:nvPr/>
        </p:nvSpPr>
        <p:spPr>
          <a:xfrm>
            <a:off x="926702" y="4898393"/>
            <a:ext cx="2718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N20 G01 Z_F_  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N30 X_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CC547-F878-A18C-B5C1-815FF467FEE4}"/>
              </a:ext>
            </a:extLst>
          </p:cNvPr>
          <p:cNvSpPr txBox="1"/>
          <p:nvPr/>
        </p:nvSpPr>
        <p:spPr>
          <a:xfrm>
            <a:off x="3339093" y="4924713"/>
            <a:ext cx="2646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N20 G01 X_ F_ 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N30 Z_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BF0C3-F8C3-D8B8-295E-5C621D4A71DD}"/>
              </a:ext>
            </a:extLst>
          </p:cNvPr>
          <p:cNvSpPr txBox="1"/>
          <p:nvPr/>
        </p:nvSpPr>
        <p:spPr>
          <a:xfrm>
            <a:off x="6016079" y="4900197"/>
            <a:ext cx="2885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N20 G01 X_ Z_F_ 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N30 G03 X_Z_R_F_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2556F-FA7A-4CA2-F94F-ECA04CB52E18}"/>
              </a:ext>
            </a:extLst>
          </p:cNvPr>
          <p:cNvSpPr txBox="1"/>
          <p:nvPr/>
        </p:nvSpPr>
        <p:spPr>
          <a:xfrm>
            <a:off x="8656409" y="4893410"/>
            <a:ext cx="3087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N20 G82 X_Z_C_P_F 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N30 X_Z_C_P_F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N40 G80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3" name="Л4-1">
            <a:hlinkClick r:id="" action="ppaction://media"/>
            <a:extLst>
              <a:ext uri="{FF2B5EF4-FFF2-40B4-BE49-F238E27FC236}">
                <a16:creationId xmlns:a16="http://schemas.microsoft.com/office/drawing/2014/main" id="{67336C96-A434-66F7-926C-0733A41C74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92162" y="5717179"/>
            <a:ext cx="618838" cy="5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0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2744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ACEE-357D-2CD8-9C9B-C5B3FC00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FE95B-F5FF-2820-BAD9-A79A384B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9E8F8C0F-4314-A874-16C5-08AE9CD524F8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CC675A-1E8E-E1D3-F8DF-B9BBD1BEB4A5}"/>
              </a:ext>
            </a:extLst>
          </p:cNvPr>
          <p:cNvSpPr txBox="1"/>
          <p:nvPr/>
        </p:nvSpPr>
        <p:spPr>
          <a:xfrm>
            <a:off x="3851333" y="4880490"/>
            <a:ext cx="4426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N20 G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85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X_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_Z_R_P_F_K_M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N30 G80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87BFA3-907C-69D7-BE19-32A1168D67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544" y="2378179"/>
            <a:ext cx="2363728" cy="16387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9D4BD0-2351-40BC-9F6B-D5E9FA9F86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5" y="2378179"/>
            <a:ext cx="2346707" cy="1601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66E627-B1E4-8803-BF55-E149D63448C4}"/>
              </a:ext>
            </a:extLst>
          </p:cNvPr>
          <p:cNvSpPr txBox="1"/>
          <p:nvPr/>
        </p:nvSpPr>
        <p:spPr>
          <a:xfrm>
            <a:off x="996606" y="4083043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Сверление отверстий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65AFF-3E25-0BD2-7F58-8DB4244BA611}"/>
              </a:ext>
            </a:extLst>
          </p:cNvPr>
          <p:cNvSpPr txBox="1"/>
          <p:nvPr/>
        </p:nvSpPr>
        <p:spPr>
          <a:xfrm>
            <a:off x="384962" y="4914040"/>
            <a:ext cx="4089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N20 G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83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X_Z_R_Q_P_F_K     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</a:t>
            </a: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N30 G80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0" name="Объект 6">
            <a:extLst>
              <a:ext uri="{FF2B5EF4-FFF2-40B4-BE49-F238E27FC236}">
                <a16:creationId xmlns:a16="http://schemas.microsoft.com/office/drawing/2014/main" id="{510A9B1F-84B8-C32B-B5EF-EA3E820167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000" y="2378179"/>
            <a:ext cx="2347272" cy="16206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F759C9-E169-FE68-DF08-BD08EBA25170}"/>
              </a:ext>
            </a:extLst>
          </p:cNvPr>
          <p:cNvSpPr txBox="1"/>
          <p:nvPr/>
        </p:nvSpPr>
        <p:spPr>
          <a:xfrm>
            <a:off x="8292423" y="4083043"/>
            <a:ext cx="3055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Нарезание внутренней резьбы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988B2F-4711-FC23-2D43-775EE6E42A67}"/>
              </a:ext>
            </a:extLst>
          </p:cNvPr>
          <p:cNvSpPr txBox="1"/>
          <p:nvPr/>
        </p:nvSpPr>
        <p:spPr>
          <a:xfrm>
            <a:off x="7775758" y="4896074"/>
            <a:ext cx="4089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N20 G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8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4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X_Z_R_Q_P_F_K  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N30 G80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15989-6E52-6BF0-AD7A-5F0964D21370}"/>
              </a:ext>
            </a:extLst>
          </p:cNvPr>
          <p:cNvSpPr txBox="1"/>
          <p:nvPr/>
        </p:nvSpPr>
        <p:spPr>
          <a:xfrm>
            <a:off x="4777435" y="4083535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Растачивание отверстий</a:t>
            </a:r>
          </a:p>
        </p:txBody>
      </p:sp>
      <p:pic>
        <p:nvPicPr>
          <p:cNvPr id="15" name="внутробр">
            <a:hlinkClick r:id="" action="ppaction://media"/>
            <a:extLst>
              <a:ext uri="{FF2B5EF4-FFF2-40B4-BE49-F238E27FC236}">
                <a16:creationId xmlns:a16="http://schemas.microsoft.com/office/drawing/2014/main" id="{CA5E052A-167C-BC93-5D79-E9392795FB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9080" y="5712295"/>
            <a:ext cx="587525" cy="5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6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472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24EF-476A-02DD-72CB-7FEA61DD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29691-9CE3-9600-524C-FAB9BFAE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E4C12766-8F47-F4AD-9411-9679B0411AF3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38B0D6B-36E5-7D40-A8C5-00EC8803C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18" y="2121340"/>
            <a:ext cx="4122453" cy="26153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C2AA1E-4662-1CFF-43CC-C743E65522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070" y="1959512"/>
            <a:ext cx="2107819" cy="15916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23BEF8-39A2-3033-A767-EFBFB20B42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717" y="1996316"/>
            <a:ext cx="1813717" cy="143268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283BD3E-35CC-F200-2998-91F1FF6166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202" y="2010586"/>
            <a:ext cx="1530000" cy="14894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3FDD5B-4675-AB93-9FCA-6DCA886362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434" y="3830527"/>
            <a:ext cx="1530000" cy="142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CBE3B6-6885-E9AB-B5AE-ECE893CED05C}"/>
              </a:ext>
            </a:extLst>
          </p:cNvPr>
          <p:cNvSpPr txBox="1"/>
          <p:nvPr/>
        </p:nvSpPr>
        <p:spPr>
          <a:xfrm>
            <a:off x="2370146" y="5053666"/>
            <a:ext cx="310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N100 T0101 M6</a:t>
            </a:r>
            <a:endParaRPr lang="ru-RU" dirty="0"/>
          </a:p>
          <a:p>
            <a:r>
              <a:rPr lang="en-US" dirty="0"/>
              <a:t>N110 M7</a:t>
            </a:r>
          </a:p>
          <a:p>
            <a:r>
              <a:rPr lang="ru-RU" dirty="0"/>
              <a:t>.</a:t>
            </a:r>
            <a:endParaRPr lang="en-US" dirty="0"/>
          </a:p>
          <a:p>
            <a:r>
              <a:rPr lang="en-US" dirty="0"/>
              <a:t>N195 M9</a:t>
            </a:r>
          </a:p>
          <a:p>
            <a:r>
              <a:rPr lang="en-US" dirty="0"/>
              <a:t>N200 T0202 M6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D1369C8-96A9-04B6-0C22-13ADBED14E6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979" y="3898255"/>
            <a:ext cx="1472518" cy="1292544"/>
          </a:xfrm>
          <a:prstGeom prst="rect">
            <a:avLst/>
          </a:prstGeom>
        </p:spPr>
      </p:pic>
      <p:pic>
        <p:nvPicPr>
          <p:cNvPr id="4" name="Л4-2">
            <a:hlinkClick r:id="" action="ppaction://media"/>
            <a:extLst>
              <a:ext uri="{FF2B5EF4-FFF2-40B4-BE49-F238E27FC236}">
                <a16:creationId xmlns:a16="http://schemas.microsoft.com/office/drawing/2014/main" id="{67048CA0-BCC2-C7B6-41D0-7A07134931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99218" y="5729390"/>
            <a:ext cx="598742" cy="55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1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6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C0C08-639F-D759-91FC-F8818332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91E21D-E032-0C9E-36E7-6FD7BF69A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3F5F7934-14A0-BBD9-3765-398A15DCF7F1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92565F-9896-449A-F728-FADECD76E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00" y="1980664"/>
            <a:ext cx="3636470" cy="289667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E6CD227-EE58-0DFE-3E47-2FCDE6F7D2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" b="3167"/>
          <a:stretch>
            <a:fillRect/>
          </a:stretch>
        </p:blipFill>
        <p:spPr>
          <a:xfrm>
            <a:off x="6492467" y="1980664"/>
            <a:ext cx="3808618" cy="28966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92B9D2-B7CF-4A65-96AA-2BF9CDA41B2A}"/>
              </a:ext>
            </a:extLst>
          </p:cNvPr>
          <p:cNvSpPr txBox="1"/>
          <p:nvPr/>
        </p:nvSpPr>
        <p:spPr>
          <a:xfrm>
            <a:off x="1641000" y="5111322"/>
            <a:ext cx="3231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Действие вспомогательной функции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22113-C5F6-89F0-359E-24A9CEF14C78}"/>
              </a:ext>
            </a:extLst>
          </p:cNvPr>
          <p:cNvSpPr txBox="1"/>
          <p:nvPr/>
        </p:nvSpPr>
        <p:spPr>
          <a:xfrm>
            <a:off x="6761457" y="5111321"/>
            <a:ext cx="3231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Направления движений</a:t>
            </a:r>
          </a:p>
        </p:txBody>
      </p:sp>
      <p:pic>
        <p:nvPicPr>
          <p:cNvPr id="5" name="кинемсхема">
            <a:hlinkClick r:id="" action="ppaction://media"/>
            <a:extLst>
              <a:ext uri="{FF2B5EF4-FFF2-40B4-BE49-F238E27FC236}">
                <a16:creationId xmlns:a16="http://schemas.microsoft.com/office/drawing/2014/main" id="{ACFF1A48-B0EC-B039-7510-9BF626F65D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9218" y="5738053"/>
            <a:ext cx="598742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0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5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F8EC-D341-73F6-E726-13BE0661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57DFC-09F6-B2B3-E659-39AC139A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09EDA093-4944-6223-5BCE-55E33D55B656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EE249B-EC6E-EA06-5610-1021CA1C2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00" y="1629000"/>
            <a:ext cx="3286125" cy="3971925"/>
          </a:xfrm>
          <a:prstGeom prst="rect">
            <a:avLst/>
          </a:prstGeom>
        </p:spPr>
      </p:pic>
      <p:pic>
        <p:nvPicPr>
          <p:cNvPr id="9" name="фрезерование">
            <a:hlinkClick r:id="" action="ppaction://media"/>
            <a:extLst>
              <a:ext uri="{FF2B5EF4-FFF2-40B4-BE49-F238E27FC236}">
                <a16:creationId xmlns:a16="http://schemas.microsoft.com/office/drawing/2014/main" id="{992181AD-9643-C3E0-D692-978CB120B9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0198" y="5729390"/>
            <a:ext cx="656782" cy="557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314F0B-53F7-8CF2-6BED-63A291995128}"/>
              </a:ext>
            </a:extLst>
          </p:cNvPr>
          <p:cNvSpPr txBox="1"/>
          <p:nvPr/>
        </p:nvSpPr>
        <p:spPr>
          <a:xfrm>
            <a:off x="5511000" y="1903260"/>
            <a:ext cx="623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n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частота вращения шпинделя, об/мин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V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c</a:t>
            </a:r>
            <a:r>
              <a:rPr lang="ru-RU" sz="20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скорость резания, м/мин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V</a:t>
            </a:r>
            <a:r>
              <a:rPr lang="en-US" sz="2000" i="1" dirty="0">
                <a:solidFill>
                  <a:srgbClr val="20426C"/>
                </a:solidFill>
                <a:latin typeface="Golos Text" panose="020B0503020202020204"/>
              </a:rPr>
              <a:t>e</a:t>
            </a:r>
            <a:r>
              <a:rPr lang="ru-RU" sz="20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эффективная скорость резания, м/мин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/>
              </a:rPr>
              <a:t>DC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диаметр фрезы, мм</a:t>
            </a:r>
            <a:endParaRPr lang="en-US" sz="2400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/>
              </a:rPr>
              <a:t>DCX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максимальный диаметр резания, мм</a:t>
            </a:r>
            <a:endParaRPr lang="ru-RU" sz="2400" dirty="0">
              <a:solidFill>
                <a:srgbClr val="204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23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69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46C97-6D85-E976-A460-6ADAACCC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265CB-0773-1C5B-574C-484D62BD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48A1A82D-D462-962E-D76E-0FB2804BAB26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824B91-07AF-79AB-8792-75B2A990D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64" y="2259000"/>
            <a:ext cx="2076450" cy="2943225"/>
          </a:xfrm>
          <a:prstGeom prst="rect">
            <a:avLst/>
          </a:prstGeom>
        </p:spPr>
      </p:pic>
      <p:pic>
        <p:nvPicPr>
          <p:cNvPr id="5" name="фрезерование1">
            <a:hlinkClick r:id="" action="ppaction://media"/>
            <a:extLst>
              <a:ext uri="{FF2B5EF4-FFF2-40B4-BE49-F238E27FC236}">
                <a16:creationId xmlns:a16="http://schemas.microsoft.com/office/drawing/2014/main" id="{A71C0CF7-7840-27CA-C4DC-42041F7448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1000" y="5716205"/>
            <a:ext cx="629999" cy="5705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07BF09-5813-928F-609C-2750ACC9D104}"/>
              </a:ext>
            </a:extLst>
          </p:cNvPr>
          <p:cNvSpPr txBox="1"/>
          <p:nvPr/>
        </p:nvSpPr>
        <p:spPr>
          <a:xfrm>
            <a:off x="6103600" y="4659020"/>
            <a:ext cx="315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V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f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= f</a:t>
            </a:r>
            <a:r>
              <a:rPr lang="en-US" sz="2000" i="1" dirty="0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× </a:t>
            </a:r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c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× n  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мм/мин</a:t>
            </a:r>
            <a:endParaRPr lang="ru-RU" sz="2400" i="1" dirty="0">
              <a:solidFill>
                <a:srgbClr val="20426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ED1E6-83F2-0245-568B-F9C33571C997}"/>
              </a:ext>
            </a:extLst>
          </p:cNvPr>
          <p:cNvSpPr txBox="1"/>
          <p:nvPr/>
        </p:nvSpPr>
        <p:spPr>
          <a:xfrm>
            <a:off x="5511000" y="1903260"/>
            <a:ext cx="623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f</a:t>
            </a:r>
            <a:r>
              <a:rPr lang="en-US" sz="2000" i="1" dirty="0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подача на зуб, мм/зуб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V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f</a:t>
            </a:r>
            <a:r>
              <a:rPr lang="ru-RU" sz="20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минутная подача, мм/мин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n</a:t>
            </a:r>
            <a:r>
              <a:rPr lang="ru-RU" sz="20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число зубьев фрезы, шт.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c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эффективное число зубьев, шт.</a:t>
            </a:r>
            <a:endParaRPr lang="en-US" sz="2400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f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n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подача на оборот, мм/об 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[f</a:t>
            </a:r>
            <a:r>
              <a:rPr lang="en-US" sz="2000" i="1" dirty="0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× </a:t>
            </a:r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c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]</a:t>
            </a:r>
          </a:p>
          <a:p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n – 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частота вращения шпинделя, об/мин</a:t>
            </a:r>
            <a:endParaRPr lang="ru-RU" sz="2400" dirty="0">
              <a:solidFill>
                <a:srgbClr val="204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27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DB53-EE5E-9971-32D3-0A8523FA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36510-1059-419F-8BB4-64EED685D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696B00BB-B6FB-83EF-36C0-BB5A7D177310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pic>
        <p:nvPicPr>
          <p:cNvPr id="5" name="фрезерование1">
            <a:hlinkClick r:id="" action="ppaction://media"/>
            <a:extLst>
              <a:ext uri="{FF2B5EF4-FFF2-40B4-BE49-F238E27FC236}">
                <a16:creationId xmlns:a16="http://schemas.microsoft.com/office/drawing/2014/main" id="{85B506DE-6CEC-F439-5F1B-F438B20FF0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1000" y="5716205"/>
            <a:ext cx="629999" cy="5705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AC6FF0-76E4-0947-42DF-9D7C567D81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99" y="2024413"/>
            <a:ext cx="3419475" cy="2943225"/>
          </a:xfrm>
          <a:prstGeom prst="rect">
            <a:avLst/>
          </a:prstGeom>
        </p:spPr>
      </p:pic>
      <p:pic>
        <p:nvPicPr>
          <p:cNvPr id="8" name="фрезерование2">
            <a:hlinkClick r:id="" action="ppaction://media"/>
            <a:extLst>
              <a:ext uri="{FF2B5EF4-FFF2-40B4-BE49-F238E27FC236}">
                <a16:creationId xmlns:a16="http://schemas.microsoft.com/office/drawing/2014/main" id="{B8F5D675-FB14-9F4E-0AA9-9FDF598517E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1000" y="5724162"/>
            <a:ext cx="629999" cy="5552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5788C-AA90-EAFF-94EF-2174D2E75256}"/>
              </a:ext>
            </a:extLst>
          </p:cNvPr>
          <p:cNvSpPr txBox="1"/>
          <p:nvPr/>
        </p:nvSpPr>
        <p:spPr>
          <a:xfrm>
            <a:off x="5511000" y="1903260"/>
            <a:ext cx="623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f</a:t>
            </a:r>
            <a:r>
              <a:rPr lang="en-US" sz="2000" i="1" dirty="0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подача на зуб, мм/зуб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V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f</a:t>
            </a:r>
            <a:r>
              <a:rPr lang="ru-RU" sz="20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минутная подача, мм/мин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n</a:t>
            </a:r>
            <a:r>
              <a:rPr lang="ru-RU" sz="2000" i="1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число зубьев фрезы, шт. </a:t>
            </a:r>
            <a:endParaRPr lang="en-US" sz="2400" i="1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c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/>
              </a:rPr>
              <a:t>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эффективное число зубьев, шт.</a:t>
            </a:r>
            <a:endParaRPr lang="en-US" sz="2400" dirty="0">
              <a:solidFill>
                <a:srgbClr val="20426C"/>
              </a:solidFill>
              <a:latin typeface="Golos Text" panose="020B0503020202020204"/>
            </a:endParaRPr>
          </a:p>
          <a:p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f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n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–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 подача на оборот, мм/об  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[f</a:t>
            </a:r>
            <a:r>
              <a:rPr lang="en-US" sz="2000" i="1" dirty="0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× </a:t>
            </a:r>
            <a:r>
              <a:rPr lang="en-US" sz="2400" i="1" dirty="0" err="1">
                <a:solidFill>
                  <a:srgbClr val="20426C"/>
                </a:solidFill>
                <a:latin typeface="Golos Text" panose="020B0503020202020204"/>
              </a:rPr>
              <a:t>Z</a:t>
            </a:r>
            <a:r>
              <a:rPr lang="en-US" sz="2000" i="1" dirty="0" err="1">
                <a:solidFill>
                  <a:srgbClr val="20426C"/>
                </a:solidFill>
                <a:latin typeface="Golos Text" panose="020B0503020202020204"/>
              </a:rPr>
              <a:t>c</a:t>
            </a:r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 ]</a:t>
            </a:r>
          </a:p>
          <a:p>
            <a:r>
              <a:rPr lang="en-US" sz="2400" i="1" dirty="0">
                <a:solidFill>
                  <a:srgbClr val="20426C"/>
                </a:solidFill>
                <a:latin typeface="Golos Text" panose="020B0503020202020204"/>
              </a:rPr>
              <a:t>n – 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/>
              </a:rPr>
              <a:t>частота вращения шпинделя, об/мин</a:t>
            </a:r>
            <a:endParaRPr lang="ru-RU" sz="2400" dirty="0">
              <a:solidFill>
                <a:srgbClr val="20426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0F888A-4478-9484-5BB3-341507490661}"/>
                  </a:ext>
                </a:extLst>
              </p:cNvPr>
              <p:cNvSpPr txBox="1"/>
              <p:nvPr/>
            </p:nvSpPr>
            <p:spPr>
              <a:xfrm>
                <a:off x="6251640" y="4616676"/>
                <a:ext cx="3301258" cy="7019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0426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40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  <m:t> ·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0" smtClean="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sz="2400" b="0" i="1" smtClean="0">
                              <a:solidFill>
                                <a:srgbClr val="20426C"/>
                              </a:solidFill>
                              <a:latin typeface="Cambria Math" panose="02040503050406030204" pitchFamily="18" charset="0"/>
                            </a:rPr>
                            <m:t> ·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20426C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0F888A-4478-9484-5BB3-341507490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640" y="4616676"/>
                <a:ext cx="3301258" cy="7019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58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31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305E-AE8B-4CB3-6D0A-BF6CC880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9E9EE9-F565-F2CD-DF35-148FD14C48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3510393" y="2970776"/>
            <a:ext cx="1633402" cy="175283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A8C65-22F8-69AF-00A1-D21F001D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4AD61E02-CE54-30D8-9694-98D61A3299B8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C8410F-A88B-9FD8-F30F-C8B08DE2DE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6025269" y="3045147"/>
            <a:ext cx="1890000" cy="170699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387B695-C8B2-289D-402B-09DC0E38BF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1059182" y="2802457"/>
            <a:ext cx="1549798" cy="18162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7A6734-12C8-8259-96C0-3A55A9280D7F}"/>
              </a:ext>
            </a:extLst>
          </p:cNvPr>
          <p:cNvSpPr txBox="1"/>
          <p:nvPr/>
        </p:nvSpPr>
        <p:spPr>
          <a:xfrm>
            <a:off x="876780" y="4973723"/>
            <a:ext cx="2260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0426C"/>
                </a:solidFill>
              </a:rPr>
              <a:t>Многогранники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DBF77-0DD3-FD94-9756-78DFE35BA4B7}"/>
              </a:ext>
            </a:extLst>
          </p:cNvPr>
          <p:cNvSpPr txBox="1"/>
          <p:nvPr/>
        </p:nvSpPr>
        <p:spPr>
          <a:xfrm>
            <a:off x="3751670" y="4973723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0426C"/>
                </a:solidFill>
              </a:rPr>
              <a:t>Пазы</a:t>
            </a:r>
            <a:endParaRPr lang="ru-RU" dirty="0">
              <a:solidFill>
                <a:srgbClr val="20426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311CA-7FEE-7A5B-EF30-A43EC49DAA24}"/>
              </a:ext>
            </a:extLst>
          </p:cNvPr>
          <p:cNvSpPr txBox="1"/>
          <p:nvPr/>
        </p:nvSpPr>
        <p:spPr>
          <a:xfrm>
            <a:off x="6042470" y="5040134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0426C"/>
                </a:solidFill>
              </a:rPr>
              <a:t>Лыски</a:t>
            </a:r>
            <a:endParaRPr lang="ru-RU" dirty="0">
              <a:solidFill>
                <a:srgbClr val="20426C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AE42EC3-7659-4CAF-66EF-61507621C49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75"/>
          <a:stretch>
            <a:fillRect/>
          </a:stretch>
        </p:blipFill>
        <p:spPr>
          <a:xfrm>
            <a:off x="9593980" y="1534171"/>
            <a:ext cx="1404571" cy="238957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348FE44-624E-7160-05C7-BD050CD11A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" r="-1" b="890"/>
          <a:stretch>
            <a:fillRect/>
          </a:stretch>
        </p:blipFill>
        <p:spPr>
          <a:xfrm>
            <a:off x="9741000" y="4229875"/>
            <a:ext cx="1374911" cy="2389579"/>
          </a:xfrm>
          <a:prstGeom prst="rect">
            <a:avLst/>
          </a:prstGeom>
        </p:spPr>
      </p:pic>
      <p:sp>
        <p:nvSpPr>
          <p:cNvPr id="19" name="Стрелка: изогнутая влево 18">
            <a:extLst>
              <a:ext uri="{FF2B5EF4-FFF2-40B4-BE49-F238E27FC236}">
                <a16:creationId xmlns:a16="http://schemas.microsoft.com/office/drawing/2014/main" id="{4E3D4DD7-F999-0851-2DA8-87F0003A2EC6}"/>
              </a:ext>
            </a:extLst>
          </p:cNvPr>
          <p:cNvSpPr/>
          <p:nvPr/>
        </p:nvSpPr>
        <p:spPr>
          <a:xfrm rot="14786777">
            <a:off x="7983285" y="1602424"/>
            <a:ext cx="674999" cy="2141907"/>
          </a:xfrm>
          <a:prstGeom prst="curvedLeftArrow">
            <a:avLst/>
          </a:prstGeom>
          <a:ln>
            <a:solidFill>
              <a:srgbClr val="2042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Стрелка: изогнутая влево 19">
            <a:extLst>
              <a:ext uri="{FF2B5EF4-FFF2-40B4-BE49-F238E27FC236}">
                <a16:creationId xmlns:a16="http://schemas.microsoft.com/office/drawing/2014/main" id="{8686A8C5-CE68-9B3F-1450-97E0F543C4BD}"/>
              </a:ext>
            </a:extLst>
          </p:cNvPr>
          <p:cNvSpPr/>
          <p:nvPr/>
        </p:nvSpPr>
        <p:spPr>
          <a:xfrm rot="6813223" flipV="1">
            <a:off x="8125686" y="4454741"/>
            <a:ext cx="674999" cy="2141907"/>
          </a:xfrm>
          <a:prstGeom prst="curvedLeftArrow">
            <a:avLst/>
          </a:prstGeom>
          <a:ln>
            <a:solidFill>
              <a:srgbClr val="2042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BB8A89-2858-F633-97F3-800AD508FF9D}"/>
              </a:ext>
            </a:extLst>
          </p:cNvPr>
          <p:cNvSpPr txBox="1"/>
          <p:nvPr/>
        </p:nvSpPr>
        <p:spPr>
          <a:xfrm>
            <a:off x="8981494" y="286026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0426C"/>
                </a:solidFill>
              </a:rPr>
              <a:t>1</a:t>
            </a:r>
            <a:endParaRPr lang="ru-RU" dirty="0">
              <a:solidFill>
                <a:srgbClr val="20426C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D7A711-5945-62C4-3AF4-8527B0EBF512}"/>
              </a:ext>
            </a:extLst>
          </p:cNvPr>
          <p:cNvSpPr txBox="1"/>
          <p:nvPr/>
        </p:nvSpPr>
        <p:spPr>
          <a:xfrm>
            <a:off x="8996170" y="477451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0426C"/>
                </a:solidFill>
              </a:rPr>
              <a:t>2</a:t>
            </a:r>
            <a:endParaRPr lang="ru-RU" dirty="0">
              <a:solidFill>
                <a:srgbClr val="20426C"/>
              </a:solidFill>
            </a:endParaRPr>
          </a:p>
        </p:txBody>
      </p:sp>
      <p:pic>
        <p:nvPicPr>
          <p:cNvPr id="25" name="фрезлыски">
            <a:hlinkClick r:id="" action="ppaction://media"/>
            <a:extLst>
              <a:ext uri="{FF2B5EF4-FFF2-40B4-BE49-F238E27FC236}">
                <a16:creationId xmlns:a16="http://schemas.microsoft.com/office/drawing/2014/main" id="{18A95807-6894-2741-00BB-7722699C0A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90560" y="5724162"/>
            <a:ext cx="629999" cy="62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8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93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720A6-FE2D-EDD6-F620-62333A5BC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A60B0-F5AE-52C4-76AC-CCC2D559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E8FDCC87-3D53-6E61-6694-82317E5D9785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937C6-64CB-B573-6C7E-B7CD583473FA}"/>
              </a:ext>
            </a:extLst>
          </p:cNvPr>
          <p:cNvSpPr txBox="1"/>
          <p:nvPr/>
        </p:nvSpPr>
        <p:spPr>
          <a:xfrm>
            <a:off x="6529304" y="1764000"/>
            <a:ext cx="44266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 </a:t>
            </a: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(ФРЕЗЕРОВАНИЕ ЛЫСКИ)</a:t>
            </a: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N95 T0101 M6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10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 G0X45Z-5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N105 G17 X0Y5Z5 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N105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S2500 M3</a:t>
            </a: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N110 G01X-15Z-2F200M7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N115 X10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N120 G0Z5M9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110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G18 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81B4C3-61F7-C920-32D4-9EBCA24C4C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99" y="1539000"/>
            <a:ext cx="4426697" cy="4848748"/>
          </a:xfrm>
          <a:prstGeom prst="rect">
            <a:avLst/>
          </a:prstGeom>
        </p:spPr>
      </p:pic>
      <p:pic>
        <p:nvPicPr>
          <p:cNvPr id="3" name="Лыска">
            <a:hlinkClick r:id="" action="ppaction://media"/>
            <a:extLst>
              <a:ext uri="{FF2B5EF4-FFF2-40B4-BE49-F238E27FC236}">
                <a16:creationId xmlns:a16="http://schemas.microsoft.com/office/drawing/2014/main" id="{78458BAA-3243-1BD4-7F7F-62FE88FFC4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2645" y="5729390"/>
            <a:ext cx="655315" cy="55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51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8BB7-10AF-2940-89E3-6C88A018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01DED-CC2D-2971-7BD0-A5F97165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4</a:t>
            </a:r>
          </a:p>
        </p:txBody>
      </p:sp>
      <p:sp>
        <p:nvSpPr>
          <p:cNvPr id="22" name="Объект 4">
            <a:extLst>
              <a:ext uri="{FF2B5EF4-FFF2-40B4-BE49-F238E27FC236}">
                <a16:creationId xmlns:a16="http://schemas.microsoft.com/office/drawing/2014/main" id="{31A98061-1EFB-FE59-2FAC-9498B61D0DC3}"/>
              </a:ext>
            </a:extLst>
          </p:cNvPr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комбинированной обработки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D0982-B00B-1925-4E2F-51A8D8BAD26B}"/>
              </a:ext>
            </a:extLst>
          </p:cNvPr>
          <p:cNvSpPr txBox="1"/>
          <p:nvPr/>
        </p:nvSpPr>
        <p:spPr>
          <a:xfrm>
            <a:off x="6529304" y="1764000"/>
            <a:ext cx="44266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 </a:t>
            </a: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(РАДИАЛЬНОЕ СВЕРЛЕНИЕ)</a:t>
            </a: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10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 M51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N105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S2000 M3</a:t>
            </a:r>
          </a:p>
          <a:p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N110 G0X65C0.0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N115 G87 Z-55 R5 Q20000 F2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N120 G80 M5</a:t>
            </a:r>
          </a:p>
          <a:p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    N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110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M50</a:t>
            </a: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7" name="радсверл">
            <a:hlinkClick r:id="" action="ppaction://media"/>
            <a:extLst>
              <a:ext uri="{FF2B5EF4-FFF2-40B4-BE49-F238E27FC236}">
                <a16:creationId xmlns:a16="http://schemas.microsoft.com/office/drawing/2014/main" id="{63D74B90-5DEC-D404-6CC6-FAC4B734AE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6000" y="5729390"/>
            <a:ext cx="661960" cy="55732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15FD68-D849-7C6C-A75A-8E189E171F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89" y="1764000"/>
            <a:ext cx="5830715" cy="322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5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78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4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Благодарю за внимание!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2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7680" y="60459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4482</TotalTime>
  <Words>530</Words>
  <Application>Microsoft Office PowerPoint</Application>
  <PresentationFormat>Широкоэкранный</PresentationFormat>
  <Paragraphs>103</Paragraphs>
  <Slides>13</Slides>
  <Notes>0</Notes>
  <HiddenSlides>0</HiddenSlides>
  <MMClips>13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Golos Text</vt:lpstr>
      <vt:lpstr>Wingdings</vt:lpstr>
      <vt:lpstr>Тема Office</vt:lpstr>
      <vt:lpstr>Презентация PowerPoint</vt:lpstr>
      <vt:lpstr>Презентация PowerPoint</vt:lpstr>
      <vt:lpstr>Лекция #4</vt:lpstr>
      <vt:lpstr>Лекция #4</vt:lpstr>
      <vt:lpstr>Лекция #4</vt:lpstr>
      <vt:lpstr>Лекция #4</vt:lpstr>
      <vt:lpstr>Лекция #4</vt:lpstr>
      <vt:lpstr>Лекция #4</vt:lpstr>
      <vt:lpstr>Лекция #4</vt:lpstr>
      <vt:lpstr>Лекция #4</vt:lpstr>
      <vt:lpstr>Лекция #4</vt:lpstr>
      <vt:lpstr>Лекция #4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СТАНКИН</dc:creator>
  <cp:lastModifiedBy>Наталия Широких</cp:lastModifiedBy>
  <cp:revision>163</cp:revision>
  <dcterms:created xsi:type="dcterms:W3CDTF">2025-08-21T14:41:06Z</dcterms:created>
  <dcterms:modified xsi:type="dcterms:W3CDTF">2025-11-10T21:05:49Z</dcterms:modified>
</cp:coreProperties>
</file>