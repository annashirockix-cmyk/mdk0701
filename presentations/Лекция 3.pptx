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260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20" r:id="rId12"/>
    <p:sldId id="317" r:id="rId13"/>
    <p:sldId id="316" r:id="rId14"/>
    <p:sldId id="321" r:id="rId15"/>
    <p:sldId id="32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426C"/>
    <a:srgbClr val="D82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3187" autoAdjust="0"/>
  </p:normalViewPr>
  <p:slideViewPr>
    <p:cSldViewPr showGuides="1">
      <p:cViewPr varScale="1">
        <p:scale>
          <a:sx n="76" d="100"/>
          <a:sy n="76" d="100"/>
        </p:scale>
        <p:origin x="94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E794E-07A7-49FC-A8B8-E81D8C8B93A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C1104-E05B-48F9-B5D8-79FB746F6C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08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61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31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20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69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81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03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04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46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63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960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31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6EFB0-CBDE-4DF2-A551-E7579EB853D3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7C500-475C-44F7-8AB8-DC2183BD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300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media" Target="../media/media11.mp3"/><Relationship Id="rId7" Type="http://schemas.openxmlformats.org/officeDocument/2006/relationships/image" Target="../media/image4.png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6" Type="http://schemas.openxmlformats.org/officeDocument/2006/relationships/image" Target="../media/image21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1.mp3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5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875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056000" y="2762312"/>
            <a:ext cx="10515600" cy="83837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>
                <a:latin typeface="Golos Text" panose="020B0503020202020204" pitchFamily="34" charset="0"/>
                <a:cs typeface="Golos Text" panose="020B0503020202020204" pitchFamily="34" charset="0"/>
              </a:rPr>
              <a:t>Программа ДПО «Подготовка и контроль управляющих программ для станков с ЧПУ токарной группы»</a:t>
            </a:r>
          </a:p>
        </p:txBody>
      </p:sp>
      <p:sp>
        <p:nvSpPr>
          <p:cNvPr id="7" name="Объект 4"/>
          <p:cNvSpPr txBox="1">
            <a:spLocks/>
          </p:cNvSpPr>
          <p:nvPr/>
        </p:nvSpPr>
        <p:spPr>
          <a:xfrm>
            <a:off x="838200" y="5454000"/>
            <a:ext cx="10515600" cy="83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>
                <a:latin typeface="Golos Text" panose="020B0503020202020204" pitchFamily="34" charset="0"/>
                <a:cs typeface="Golos Text" panose="020B0503020202020204" pitchFamily="34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313000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056000" y="2349000"/>
            <a:ext cx="10515600" cy="17100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Модуль 1  </a:t>
            </a:r>
            <a:r>
              <a:rPr 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: </a:t>
            </a: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«Автоматизированная разработка управляющих программ для токарных станков с ЧПУ»</a:t>
            </a:r>
          </a:p>
          <a:p>
            <a:pPr marL="0" indent="0" algn="ctr">
              <a:buNone/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Лекция </a:t>
            </a:r>
            <a:r>
              <a:rPr lang="en-US" altLang="zh-CN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#</a:t>
            </a:r>
            <a:r>
              <a:rPr lang="zh-CN" altLang="en-US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 </a:t>
            </a:r>
            <a:endParaRPr lang="en-US" altLang="zh-CN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buNone/>
            </a:pPr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«Разработка и контроль УП для точения внутренних поверхностей»</a:t>
            </a:r>
          </a:p>
        </p:txBody>
      </p:sp>
    </p:spTree>
    <p:extLst>
      <p:ext uri="{BB962C8B-B14F-4D97-AF65-F5344CB8AC3E}">
        <p14:creationId xmlns:p14="http://schemas.microsoft.com/office/powerpoint/2010/main" val="169244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432" y="2663727"/>
            <a:ext cx="2370539" cy="1935000"/>
          </a:xfr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68" y="2663727"/>
            <a:ext cx="2365903" cy="193500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000" y="2663727"/>
            <a:ext cx="2365903" cy="1935000"/>
          </a:xfrm>
          <a:prstGeom prst="rect">
            <a:avLst/>
          </a:prstGeom>
        </p:spPr>
      </p:pic>
      <p:sp>
        <p:nvSpPr>
          <p:cNvPr id="22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695" y="4869000"/>
            <a:ext cx="2383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Сверление</a:t>
            </a:r>
          </a:p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отверстий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3527" y="4888909"/>
            <a:ext cx="2383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Нарезание внутренней резьбы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3359" y="4869000"/>
            <a:ext cx="2383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/>
            </a:lvl1pPr>
          </a:lstStyle>
          <a:p>
            <a:pPr algn="ctr"/>
            <a:r>
              <a:rPr lang="ru-RU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Растачивание отверстий</a:t>
            </a:r>
          </a:p>
        </p:txBody>
      </p:sp>
      <p:pic>
        <p:nvPicPr>
          <p:cNvPr id="3" name="Л3-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2309" y="569999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0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32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81" y="2345312"/>
            <a:ext cx="6456892" cy="3028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99673" y="1921344"/>
            <a:ext cx="528132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Отверстия под болтовое соединение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Отверстия с винтовой резьбой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Отверстия с </a:t>
            </a:r>
            <a:r>
              <a:rPr lang="ru-RU" sz="2400" dirty="0" err="1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цековкой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Точные отверстия (для соединений с натягом)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Отверстия со свободной посадкой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Отверстия, образующие каналы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Балансировочные отверстия</a:t>
            </a:r>
            <a:endParaRPr lang="ru-RU" dirty="0"/>
          </a:p>
        </p:txBody>
      </p:sp>
      <p:pic>
        <p:nvPicPr>
          <p:cNvPr id="8" name="Л3-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2309" y="569999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3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198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0" y="2039863"/>
            <a:ext cx="2745000" cy="277827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056" y="5432849"/>
            <a:ext cx="2442857" cy="6961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66000" y="4652613"/>
            <a:ext cx="2932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Скорость резания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6000" y="5432849"/>
            <a:ext cx="2838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Минутная подача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6220" y="2264148"/>
            <a:ext cx="58334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20426C"/>
                </a:solidFill>
              </a:rPr>
              <a:t>n</a:t>
            </a:r>
            <a:r>
              <a:rPr lang="en-US" sz="2400" dirty="0">
                <a:solidFill>
                  <a:srgbClr val="20426C"/>
                </a:solidFill>
              </a:rPr>
              <a:t> </a:t>
            </a:r>
            <a:r>
              <a:rPr lang="en-US" sz="2400" dirty="0">
                <a:solidFill>
                  <a:srgbClr val="204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>
                <a:solidFill>
                  <a:srgbClr val="204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вращения шпинделя об/мин,</a:t>
            </a:r>
            <a:endParaRPr lang="en-US" sz="2400" dirty="0">
              <a:solidFill>
                <a:srgbClr val="20426C"/>
              </a:solidFill>
            </a:endParaRPr>
          </a:p>
          <a:p>
            <a:r>
              <a:rPr lang="en-US" sz="2400" i="1" dirty="0" err="1">
                <a:solidFill>
                  <a:srgbClr val="20426C"/>
                </a:solidFill>
              </a:rPr>
              <a:t>Vc</a:t>
            </a:r>
            <a:r>
              <a:rPr lang="en-US" sz="2400" dirty="0">
                <a:solidFill>
                  <a:srgbClr val="204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2400" dirty="0">
                <a:solidFill>
                  <a:srgbClr val="204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резания, м/мин </a:t>
            </a:r>
            <a:endParaRPr lang="en-US" sz="2400" dirty="0">
              <a:solidFill>
                <a:srgbClr val="20426C"/>
              </a:solidFill>
            </a:endParaRPr>
          </a:p>
          <a:p>
            <a:r>
              <a:rPr lang="en-US" sz="2400" i="1" dirty="0" err="1">
                <a:solidFill>
                  <a:srgbClr val="20426C"/>
                </a:solidFill>
              </a:rPr>
              <a:t>fn</a:t>
            </a:r>
            <a:r>
              <a:rPr lang="en-US" sz="2400" dirty="0">
                <a:solidFill>
                  <a:srgbClr val="204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2400" dirty="0">
                <a:solidFill>
                  <a:srgbClr val="204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подача на оборот, мм/об</a:t>
            </a:r>
            <a:endParaRPr lang="en-US" sz="2400" dirty="0">
              <a:solidFill>
                <a:srgbClr val="20426C"/>
              </a:solidFill>
            </a:endParaRPr>
          </a:p>
          <a:p>
            <a:r>
              <a:rPr lang="en-US" sz="2400" i="1" dirty="0" err="1">
                <a:solidFill>
                  <a:srgbClr val="20426C"/>
                </a:solidFill>
              </a:rPr>
              <a:t>Vf</a:t>
            </a:r>
            <a:r>
              <a:rPr lang="en-US" sz="2400" dirty="0">
                <a:solidFill>
                  <a:srgbClr val="204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2400" dirty="0">
                <a:solidFill>
                  <a:srgbClr val="204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минутная подача, мм/мин</a:t>
            </a:r>
            <a:endParaRPr lang="en-US" sz="2400" dirty="0">
              <a:solidFill>
                <a:srgbClr val="20426C"/>
              </a:solidFill>
            </a:endParaRPr>
          </a:p>
          <a:p>
            <a:r>
              <a:rPr lang="en-US" sz="2400" dirty="0">
                <a:solidFill>
                  <a:srgbClr val="20426C"/>
                </a:solidFill>
              </a:rPr>
              <a:t>DC</a:t>
            </a:r>
            <a:r>
              <a:rPr lang="en-US" sz="2400" dirty="0">
                <a:solidFill>
                  <a:srgbClr val="204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2400" dirty="0">
                <a:solidFill>
                  <a:srgbClr val="2042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диаметр сверла, мм </a:t>
            </a:r>
            <a:endParaRPr lang="ru-RU" sz="2400" dirty="0">
              <a:solidFill>
                <a:srgbClr val="20426C"/>
              </a:solidFill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01"/>
          <a:stretch/>
        </p:blipFill>
        <p:spPr>
          <a:xfrm>
            <a:off x="5296070" y="4702850"/>
            <a:ext cx="2869930" cy="613284"/>
          </a:xfrm>
          <a:prstGeom prst="rect">
            <a:avLst/>
          </a:prstGeom>
        </p:spPr>
      </p:pic>
      <p:pic>
        <p:nvPicPr>
          <p:cNvPr id="14" name="Л3-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1400" y="569999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32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99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4487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grpSp>
        <p:nvGrpSpPr>
          <p:cNvPr id="10" name="Группа 9"/>
          <p:cNvGrpSpPr/>
          <p:nvPr/>
        </p:nvGrpSpPr>
        <p:grpSpPr>
          <a:xfrm>
            <a:off x="883541" y="2093420"/>
            <a:ext cx="4833268" cy="1845000"/>
            <a:chOff x="883541" y="2093420"/>
            <a:chExt cx="4833268" cy="1845000"/>
          </a:xfrm>
        </p:grpSpPr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9587" y="2408012"/>
              <a:ext cx="2237222" cy="1530408"/>
            </a:xfrm>
            <a:prstGeom prst="rect">
              <a:avLst/>
            </a:prstGeom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541" y="2093420"/>
              <a:ext cx="2580464" cy="1845000"/>
            </a:xfrm>
            <a:prstGeom prst="rect">
              <a:avLst/>
            </a:prstGeom>
          </p:spPr>
        </p:pic>
      </p:grpSp>
      <p:grpSp>
        <p:nvGrpSpPr>
          <p:cNvPr id="11" name="Группа 10"/>
          <p:cNvGrpSpPr/>
          <p:nvPr/>
        </p:nvGrpSpPr>
        <p:grpSpPr>
          <a:xfrm>
            <a:off x="6996000" y="4374000"/>
            <a:ext cx="4082221" cy="1940060"/>
            <a:chOff x="6996000" y="4374000"/>
            <a:chExt cx="4082221" cy="1940060"/>
          </a:xfrm>
        </p:grpSpPr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1000" y="4485958"/>
              <a:ext cx="2237221" cy="1516680"/>
            </a:xfrm>
            <a:prstGeom prst="rect">
              <a:avLst/>
            </a:prstGeom>
          </p:spPr>
        </p:pic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6000" y="4374000"/>
              <a:ext cx="1909266" cy="1940060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/>
        </p:nvSpPr>
        <p:spPr>
          <a:xfrm>
            <a:off x="7623970" y="2577767"/>
            <a:ext cx="378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Сверло со сменными режущими пластинами</a:t>
            </a:r>
          </a:p>
        </p:txBody>
      </p:sp>
      <p:sp>
        <p:nvSpPr>
          <p:cNvPr id="13" name="Стрелка вправо 12"/>
          <p:cNvSpPr/>
          <p:nvPr/>
        </p:nvSpPr>
        <p:spPr>
          <a:xfrm flipH="1">
            <a:off x="6091742" y="2888452"/>
            <a:ext cx="1191798" cy="261920"/>
          </a:xfrm>
          <a:prstGeom prst="rightArrow">
            <a:avLst/>
          </a:prstGeom>
          <a:solidFill>
            <a:srgbClr val="D829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право 13"/>
          <p:cNvSpPr/>
          <p:nvPr/>
        </p:nvSpPr>
        <p:spPr>
          <a:xfrm>
            <a:off x="4881702" y="5434494"/>
            <a:ext cx="1191798" cy="261920"/>
          </a:xfrm>
          <a:prstGeom prst="rightArrow">
            <a:avLst/>
          </a:prstGeom>
          <a:solidFill>
            <a:srgbClr val="D829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1011000" y="5065043"/>
            <a:ext cx="378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Цельное сверло или со сменной режущей головкой</a:t>
            </a:r>
          </a:p>
        </p:txBody>
      </p:sp>
      <p:pic>
        <p:nvPicPr>
          <p:cNvPr id="17" name="Л3-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01400" y="5700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3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08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00" y="2079000"/>
            <a:ext cx="5310000" cy="1883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11000" y="1989000"/>
            <a:ext cx="2925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(ЦЕНТРОВАНИЕ)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T01H1D1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G0X0Z5S1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5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00M03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G01Z-0.5F0.1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.</a:t>
            </a:r>
          </a:p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(СВЕРЛЕНИЕ)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T02H2D2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G01Z-60F0.2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  <a:endParaRPr lang="en-US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11" name="Л3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1400" y="57138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5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92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00" y="2079000"/>
            <a:ext cx="5310000" cy="1883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11000" y="1989000"/>
            <a:ext cx="2925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(ЦЕНТРОВАНИЕ)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T01H1D1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G0X0Z5S1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5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00M03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G01Z-0.5F0.1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.</a:t>
            </a:r>
          </a:p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(СВЕРЛЕНИЕ)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T02H2D2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G83Z-60R1Q10F1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G80M5</a:t>
            </a:r>
          </a:p>
        </p:txBody>
      </p:sp>
      <p:pic>
        <p:nvPicPr>
          <p:cNvPr id="10" name="Л3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1400" y="574075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8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750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00529" y="4128875"/>
            <a:ext cx="1298468" cy="167752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40586" y="1863751"/>
            <a:ext cx="1234406" cy="167752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96549" y="4116764"/>
            <a:ext cx="1281259" cy="171895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26435" y="1884790"/>
            <a:ext cx="1290668" cy="1693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59027" y="2085311"/>
            <a:ext cx="3874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Метчик со спиральной подточкой для сквозных отверстий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8513" y="4182808"/>
            <a:ext cx="38740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Метчик со спиральными стружечными канавками для глухих отверстий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0376" y="1946704"/>
            <a:ext cx="38740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Метчик с прямыми стружечными канавками для любых отверстий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9627" y="4678652"/>
            <a:ext cx="387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Метчик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-</a:t>
            </a:r>
            <a:r>
              <a:rPr lang="ru-RU" sz="2400" dirty="0" err="1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раскатник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17" name="Л3-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00800" y="573647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4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592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365" y="2128390"/>
            <a:ext cx="4639020" cy="2040635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1855116" y="2108366"/>
            <a:ext cx="4645884" cy="2641270"/>
            <a:chOff x="1855116" y="2108366"/>
            <a:chExt cx="4645884" cy="2641270"/>
          </a:xfrm>
        </p:grpSpPr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794412" y="1448048"/>
              <a:ext cx="2641270" cy="3961905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5852625" y="3429000"/>
              <a:ext cx="6483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20426C"/>
                  </a:solidFill>
                </a:rPr>
                <a:t>TD</a:t>
              </a:r>
              <a:endParaRPr lang="ru-RU" sz="2400" b="1" dirty="0">
                <a:solidFill>
                  <a:srgbClr val="20426C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55116" y="3429000"/>
              <a:ext cx="6483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20426C"/>
                  </a:solidFill>
                </a:rPr>
                <a:t>D</a:t>
              </a:r>
              <a:endParaRPr lang="ru-RU" sz="2400" b="1" dirty="0">
                <a:solidFill>
                  <a:srgbClr val="20426C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726000" y="4749636"/>
            <a:ext cx="279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M16X1.5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D=16-1.5=14.5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 мм</a:t>
            </a:r>
          </a:p>
        </p:txBody>
      </p:sp>
      <p:pic>
        <p:nvPicPr>
          <p:cNvPr id="12" name="Л3-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0225" y="576199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30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50" y="2058681"/>
            <a:ext cx="5338950" cy="18935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11000" y="1989000"/>
            <a:ext cx="2925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(ЦЕНТРОВАНИЕ)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T01H1D1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G0X0Z5S1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5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00M03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G01Z-0.5F0.1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.</a:t>
            </a:r>
          </a:p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(СВЕРЛЕНИЕ)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T02H2D2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G83Z-60R1Q10F1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6000" y="4217330"/>
            <a:ext cx="4815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(НАРЕЗАНИЕ РЕЗЬБЫ) 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T0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3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H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3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D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3</a:t>
            </a:r>
            <a:endParaRPr lang="en-US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84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Z-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40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R1P100F1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G80M5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11" name="Л3-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1400" y="577151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89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pic>
        <p:nvPicPr>
          <p:cNvPr id="4" name="Сверление_торцевых_отверстий_и_нарезание_резьбы_по_циклу_ЧПУ_обучающие_материалы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46000" y="1832168"/>
            <a:ext cx="3330000" cy="4568000"/>
          </a:xfrm>
          <a:prstGeom prst="rect">
            <a:avLst/>
          </a:prstGeom>
        </p:spPr>
      </p:pic>
      <p:pic>
        <p:nvPicPr>
          <p:cNvPr id="7" name="Л3-10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1400" y="579056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1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26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28EB0F-8F59-694E-76DD-01492B56CC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000" y="1944000"/>
            <a:ext cx="2590209" cy="2070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131501-92BD-0319-29CA-A5828A17C1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837" y="1800248"/>
            <a:ext cx="3228229" cy="259935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43CA4B-37BC-BE7C-FA56-EBE1F111259A}"/>
              </a:ext>
            </a:extLst>
          </p:cNvPr>
          <p:cNvSpPr txBox="1"/>
          <p:nvPr/>
        </p:nvSpPr>
        <p:spPr>
          <a:xfrm>
            <a:off x="2586000" y="4057659"/>
            <a:ext cx="5850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0426C"/>
                </a:solidFill>
              </a:rPr>
              <a:t>d</a:t>
            </a:r>
            <a:r>
              <a:rPr lang="ru-RU" sz="2400" baseline="-25000" dirty="0">
                <a:solidFill>
                  <a:srgbClr val="20426C"/>
                </a:solidFill>
              </a:rPr>
              <a:t>1</a:t>
            </a:r>
            <a:r>
              <a:rPr lang="ru-RU" sz="2400" dirty="0">
                <a:solidFill>
                  <a:srgbClr val="20426C"/>
                </a:solidFill>
              </a:rPr>
              <a:t> -диаметр имеющегося отверстия</a:t>
            </a:r>
          </a:p>
          <a:p>
            <a:r>
              <a:rPr lang="en-US" sz="2400" dirty="0">
                <a:solidFill>
                  <a:srgbClr val="20426C"/>
                </a:solidFill>
              </a:rPr>
              <a:t>d</a:t>
            </a:r>
            <a:r>
              <a:rPr lang="ru-RU" sz="2400" baseline="-25000" dirty="0">
                <a:solidFill>
                  <a:srgbClr val="20426C"/>
                </a:solidFill>
              </a:rPr>
              <a:t>2</a:t>
            </a:r>
            <a:r>
              <a:rPr lang="ru-RU" sz="2400" dirty="0">
                <a:solidFill>
                  <a:srgbClr val="20426C"/>
                </a:solidFill>
              </a:rPr>
              <a:t> -диаметр обработанного отверстия</a:t>
            </a:r>
          </a:p>
          <a:p>
            <a:r>
              <a:rPr lang="en-US" sz="2400" dirty="0">
                <a:solidFill>
                  <a:srgbClr val="20426C"/>
                </a:solidFill>
              </a:rPr>
              <a:t>D</a:t>
            </a:r>
            <a:r>
              <a:rPr lang="ru-RU" sz="2400" baseline="-25000" dirty="0">
                <a:solidFill>
                  <a:srgbClr val="20426C"/>
                </a:solidFill>
              </a:rPr>
              <a:t>г </a:t>
            </a:r>
            <a:r>
              <a:rPr lang="ru-RU" sz="2400" dirty="0">
                <a:solidFill>
                  <a:srgbClr val="20426C"/>
                </a:solidFill>
              </a:rPr>
              <a:t>– главное движение</a:t>
            </a:r>
          </a:p>
          <a:p>
            <a:r>
              <a:rPr lang="ru-RU" sz="2400" dirty="0">
                <a:solidFill>
                  <a:srgbClr val="20426C"/>
                </a:solidFill>
              </a:rPr>
              <a:t> </a:t>
            </a:r>
            <a:r>
              <a:rPr lang="en-US" sz="2400" dirty="0">
                <a:solidFill>
                  <a:srgbClr val="20426C"/>
                </a:solidFill>
              </a:rPr>
              <a:t>t</a:t>
            </a:r>
            <a:r>
              <a:rPr lang="ru-RU" sz="2400" dirty="0">
                <a:solidFill>
                  <a:srgbClr val="20426C"/>
                </a:solidFill>
              </a:rPr>
              <a:t> -глубина резания </a:t>
            </a:r>
          </a:p>
          <a:p>
            <a:r>
              <a:rPr lang="en-US" sz="2400" dirty="0">
                <a:solidFill>
                  <a:srgbClr val="20426C"/>
                </a:solidFill>
              </a:rPr>
              <a:t>d</a:t>
            </a:r>
            <a:r>
              <a:rPr lang="ru-RU" sz="2400" baseline="-25000" dirty="0">
                <a:solidFill>
                  <a:srgbClr val="20426C"/>
                </a:solidFill>
              </a:rPr>
              <a:t>2 </a:t>
            </a:r>
            <a:r>
              <a:rPr lang="ru-RU" sz="2400" dirty="0">
                <a:solidFill>
                  <a:srgbClr val="20426C"/>
                </a:solidFill>
              </a:rPr>
              <a:t>-диаметр обработанного отверстия</a:t>
            </a:r>
            <a:r>
              <a:rPr lang="ru-RU" sz="2400" baseline="-25000" dirty="0">
                <a:solidFill>
                  <a:srgbClr val="20426C"/>
                </a:solidFill>
              </a:rPr>
              <a:t> </a:t>
            </a:r>
            <a:endParaRPr lang="ru-RU" sz="2400" dirty="0">
              <a:solidFill>
                <a:srgbClr val="20426C"/>
              </a:solidFill>
            </a:endParaRPr>
          </a:p>
          <a:p>
            <a:r>
              <a:rPr lang="en-US" sz="2400" dirty="0">
                <a:solidFill>
                  <a:srgbClr val="20426C"/>
                </a:solidFill>
              </a:rPr>
              <a:t>D</a:t>
            </a:r>
            <a:r>
              <a:rPr lang="ru-RU" sz="2400" dirty="0">
                <a:solidFill>
                  <a:srgbClr val="20426C"/>
                </a:solidFill>
              </a:rPr>
              <a:t>-диаметр заготовки</a:t>
            </a:r>
            <a:endParaRPr lang="en-US" sz="2400" dirty="0">
              <a:solidFill>
                <a:srgbClr val="20426C"/>
              </a:solidFill>
            </a:endParaRPr>
          </a:p>
          <a:p>
            <a:r>
              <a:rPr lang="en-US" sz="2400" dirty="0">
                <a:solidFill>
                  <a:srgbClr val="20426C"/>
                </a:solidFill>
              </a:rPr>
              <a:t>Ds – </a:t>
            </a:r>
            <a:r>
              <a:rPr lang="ru-RU" sz="2400" dirty="0">
                <a:solidFill>
                  <a:srgbClr val="20426C"/>
                </a:solidFill>
              </a:rPr>
              <a:t>движение продольной подачи</a:t>
            </a:r>
          </a:p>
        </p:txBody>
      </p:sp>
      <p:pic>
        <p:nvPicPr>
          <p:cNvPr id="8" name="Л3-11">
            <a:hlinkClick r:id="" action="ppaction://media"/>
            <a:extLst>
              <a:ext uri="{FF2B5EF4-FFF2-40B4-BE49-F238E27FC236}">
                <a16:creationId xmlns:a16="http://schemas.microsoft.com/office/drawing/2014/main" id="{2319BB97-5B2E-5DE8-C6A2-2251A3CFF2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01400" y="580468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64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000" y="369000"/>
            <a:ext cx="10515600" cy="40887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20426C"/>
                </a:solidFill>
              </a:rPr>
              <a:t>Лекция</a:t>
            </a:r>
            <a:r>
              <a:rPr lang="en-US" sz="3200" dirty="0">
                <a:solidFill>
                  <a:srgbClr val="20426C"/>
                </a:solidFill>
              </a:rPr>
              <a:t> #</a:t>
            </a:r>
            <a:r>
              <a:rPr lang="ru-RU" sz="3200" dirty="0">
                <a:solidFill>
                  <a:srgbClr val="20426C"/>
                </a:solidFill>
              </a:rPr>
              <a:t>3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>
            <a:off x="1011000" y="1146513"/>
            <a:ext cx="10733400" cy="345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r>
              <a:rPr lang="ru-RU" sz="2400" b="1" i="1" dirty="0">
                <a:latin typeface="Golos Text" panose="020B0503020202020204" pitchFamily="34" charset="0"/>
                <a:cs typeface="Golos Text" panose="020B0503020202020204" pitchFamily="34" charset="0"/>
              </a:rPr>
              <a:t> </a:t>
            </a:r>
            <a:r>
              <a:rPr lang="ru-RU" sz="2400" b="1" i="1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Технологические операции обработки внутренних поверхностей</a:t>
            </a:r>
            <a:endParaRPr lang="en-US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en-US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Font typeface="Wingdings" panose="05000000000000000000" pitchFamily="2" charset="2"/>
              <a:buChar char="q"/>
            </a:pPr>
            <a:endParaRPr lang="en-US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86495A-CEA5-059F-FF6B-B2BEA0A61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60" y="2008502"/>
            <a:ext cx="5338950" cy="19469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47B371-ED34-F64D-8730-6EE2EC0C368D}"/>
              </a:ext>
            </a:extLst>
          </p:cNvPr>
          <p:cNvSpPr txBox="1"/>
          <p:nvPr/>
        </p:nvSpPr>
        <p:spPr>
          <a:xfrm>
            <a:off x="8211000" y="1989000"/>
            <a:ext cx="2925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(ЦЕНТРОВАНИЕ)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T01H1D1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G0X0Z5S1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5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00M03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G01Z-0.5F0.1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.</a:t>
            </a:r>
          </a:p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(СВЕРЛЕНИЕ)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T02H2D2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G83Z-60R1Q10F1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3DF13-0667-18D2-EB33-9EB11CDD39BD}"/>
              </a:ext>
            </a:extLst>
          </p:cNvPr>
          <p:cNvSpPr txBox="1"/>
          <p:nvPr/>
        </p:nvSpPr>
        <p:spPr>
          <a:xfrm>
            <a:off x="1686000" y="4217330"/>
            <a:ext cx="4815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(РАСТАЧИВАНИЕ ОТВЕРСТИЯ) 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T0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3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H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3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D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3</a:t>
            </a:r>
            <a:endParaRPr lang="en-US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G0Z5</a:t>
            </a: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85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Z-</a:t>
            </a:r>
            <a:r>
              <a:rPr lang="ru-RU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60</a:t>
            </a:r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R1P100F1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r>
              <a:rPr lang="en-US" sz="2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G80M5</a:t>
            </a:r>
            <a:endParaRPr lang="ru-RU" sz="2400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9" name="Л3-12">
            <a:hlinkClick r:id="" action="ppaction://media"/>
            <a:extLst>
              <a:ext uri="{FF2B5EF4-FFF2-40B4-BE49-F238E27FC236}">
                <a16:creationId xmlns:a16="http://schemas.microsoft.com/office/drawing/2014/main" id="{CE2478C2-4D6E-51F2-96FA-887E2009C1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0160" y="5835247"/>
            <a:ext cx="600840" cy="54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69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329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Объект 4"/>
          <p:cNvSpPr txBox="1">
            <a:spLocks/>
          </p:cNvSpPr>
          <p:nvPr/>
        </p:nvSpPr>
        <p:spPr>
          <a:xfrm>
            <a:off x="1011000" y="1143272"/>
            <a:ext cx="10733400" cy="520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b="1" i="1" dirty="0">
              <a:solidFill>
                <a:srgbClr val="20426C"/>
              </a:solidFill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r>
              <a:rPr lang="ru-RU" sz="4400" dirty="0">
                <a:solidFill>
                  <a:srgbClr val="20426C"/>
                </a:solidFill>
                <a:latin typeface="Golos Text" panose="020B0503020202020204" pitchFamily="34" charset="0"/>
                <a:cs typeface="Golos Text" panose="020B0503020202020204" pitchFamily="34" charset="0"/>
              </a:rPr>
              <a:t>Благодарю за внимание!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D82949"/>
              </a:buClr>
              <a:buNone/>
            </a:pPr>
            <a:endParaRPr lang="ru-RU" sz="2400" dirty="0"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pic>
        <p:nvPicPr>
          <p:cNvPr id="2" name="Л1-2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7680" y="60459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3568</TotalTime>
  <Words>418</Words>
  <Application>Microsoft Office PowerPoint</Application>
  <PresentationFormat>Широкоэкранный</PresentationFormat>
  <Paragraphs>125</Paragraphs>
  <Slides>15</Slides>
  <Notes>0</Notes>
  <HiddenSlides>0</HiddenSlides>
  <MMClips>14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Golos Text</vt:lpstr>
      <vt:lpstr>Times New Roman</vt:lpstr>
      <vt:lpstr>Wingdings</vt:lpstr>
      <vt:lpstr>Тема Office</vt:lpstr>
      <vt:lpstr>Презентация PowerPoint</vt:lpstr>
      <vt:lpstr>Презентация PowerPoint</vt:lpstr>
      <vt:lpstr>Лекция #3</vt:lpstr>
      <vt:lpstr>Лекция #3</vt:lpstr>
      <vt:lpstr>Лекция #3</vt:lpstr>
      <vt:lpstr>Лекция #3</vt:lpstr>
      <vt:lpstr>Лекция #3</vt:lpstr>
      <vt:lpstr>Лекция #3</vt:lpstr>
      <vt:lpstr>Лекция #3</vt:lpstr>
      <vt:lpstr>Лекция #3</vt:lpstr>
      <vt:lpstr>Лекция #3</vt:lpstr>
      <vt:lpstr>Лекция #3</vt:lpstr>
      <vt:lpstr>Лекция #3</vt:lpstr>
      <vt:lpstr>Лекция #3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СТАНКИН</dc:creator>
  <cp:lastModifiedBy>Наталия Широких</cp:lastModifiedBy>
  <cp:revision>142</cp:revision>
  <dcterms:created xsi:type="dcterms:W3CDTF">2025-08-21T14:41:06Z</dcterms:created>
  <dcterms:modified xsi:type="dcterms:W3CDTF">2025-11-10T21:04:53Z</dcterms:modified>
</cp:coreProperties>
</file>