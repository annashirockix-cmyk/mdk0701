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 и объявление темы лекции 1.1 по МДК 07.01. Сформулировать базовую роль токарной группы в машиностроительном производстве.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Озвучить цель и четыре задачи урока. Подчеркнуть, что понимание механики станка — фундамент для программирования ЧПУ.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Краткий опрос студентов по базовым терминам. Убедиться, что каждый термин ассоциируется с конкретным узлом или параметром.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Продемонстрировать переход от ручных токарно-винторезных станков к станкам с ЧПУ. Обратить внимание на геометрию тел вращения.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назначение каждого узла. Акцентировать разницу между классическим суппортом и револьверной головкой ЧПУ.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Подробно разобрать схему. Ключевой вывод: ось Z всегда параллельна шпинделю, положительное направление осей всегда ведет к отводу инструмента от заготовки.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Сравнить главное движение резания и подачу. Показать, как из сочетания V, s и t складывается производительность и стойкость инструмента.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Пройтись по контрольному списку 8 пунктов. Запомнить жесткое правило: станок запускается только после полного выполнения чек-листа.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Категорический тон. Напомнить, что нарушение любого из этих 6 правил влечет немедленное отстранение от практических занятий.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Фронтальный опрос группы по пяти контрольным вопросам. Подведение итогов водного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B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3E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1651000"/>
            <a:ext cx="6349841" cy="4342805"/>
          </a:xfrm>
          <a:prstGeom prst="roundRect">
            <a:avLst>
              <a:gd name="adj" fmla="val 833"/>
            </a:avLst>
          </a:prstGeom>
          <a:solidFill>
            <a:srgbClr val="F4B23E"/>
          </a:solidFill>
          <a:ln/>
        </p:spPr>
      </p:sp>
      <p:sp>
        <p:nvSpPr>
          <p:cNvPr id="3" name="Text 1"/>
          <p:cNvSpPr/>
          <p:nvPr/>
        </p:nvSpPr>
        <p:spPr>
          <a:xfrm>
            <a:off x="771506" y="1727581"/>
            <a:ext cx="6229194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66" kern="100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Общие основы работы на токарных станках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1506" y="3598863"/>
            <a:ext cx="6229194" cy="1461492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5" name="Text 3"/>
          <p:cNvSpPr/>
          <p:nvPr/>
        </p:nvSpPr>
        <p:spPr>
          <a:xfrm>
            <a:off x="974701" y="3759645"/>
            <a:ext cx="5822804" cy="1156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ПМ.07 · МДК 07.01 «Технология обработки деталей на станках с программным управлением»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1506" y="5276255"/>
            <a:ext cx="6229194" cy="717550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7" name="Text 5"/>
          <p:cNvSpPr/>
          <p:nvPr/>
        </p:nvSpPr>
        <p:spPr>
          <a:xfrm>
            <a:off x="974701" y="5443736"/>
            <a:ext cx="582280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ТЕМА 1.1 · СПЕЦИАЛЬНОСТЬ 15.02.16 «ТЕХНОЛОГИЯ МАШИНОСТРОЕНИЯ»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813" y="1524000"/>
            <a:ext cx="419089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ВВЕДЕНИЕ В КУРС · ТЕМА 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Цель: уверенно ориентироваться в станке и безопасно к нему подойти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374900"/>
            <a:ext cx="1908127" cy="385961"/>
          </a:xfrm>
          <a:prstGeom prst="roundRect">
            <a:avLst>
              <a:gd name="adj" fmla="val 7897"/>
            </a:avLst>
          </a:prstGeom>
          <a:solidFill>
            <a:srgbClr val="483004"/>
          </a:solidFill>
          <a:ln/>
        </p:spPr>
      </p:sp>
      <p:sp>
        <p:nvSpPr>
          <p:cNvPr id="5" name="Text 3"/>
          <p:cNvSpPr/>
          <p:nvPr/>
        </p:nvSpPr>
        <p:spPr>
          <a:xfrm>
            <a:off x="723882" y="2463106"/>
            <a:ext cx="228911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ГЛАВНАЯ ЦЕЛЬ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903646"/>
            <a:ext cx="4891858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Комплексное освоение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585" y="3430881"/>
            <a:ext cx="4891858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Объяснить назначение станка, ключевые узлы, кинематику движений резания и требования охраны труда при работе.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58631" y="2374900"/>
            <a:ext cx="2237228" cy="385961"/>
          </a:xfrm>
          <a:prstGeom prst="roundRect">
            <a:avLst>
              <a:gd name="adj" fmla="val 7897"/>
            </a:avLst>
          </a:prstGeom>
          <a:solidFill>
            <a:srgbClr val="3A7896"/>
          </a:solidFill>
          <a:ln/>
        </p:spPr>
      </p:sp>
      <p:sp>
        <p:nvSpPr>
          <p:cNvPr id="9" name="Text 7"/>
          <p:cNvSpPr/>
          <p:nvPr/>
        </p:nvSpPr>
        <p:spPr>
          <a:xfrm>
            <a:off x="6072929" y="2463106"/>
            <a:ext cx="261821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УЧЕБНЫЕ ЗАДАЧИ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58631" y="3000319"/>
            <a:ext cx="562347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1. Конструкция: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безошибочно называть и находить базовые узлы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58631" y="3764304"/>
            <a:ext cx="562347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2. Кинематика: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различать главное движение резания и подачи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58631" y="4528288"/>
            <a:ext cx="562347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3. Системы координат: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определять стандартные направления осей X и Z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58631" y="5292273"/>
            <a:ext cx="562347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4. Безопасность: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строго соблюдать производственные запреты оператора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23687" y="2273300"/>
            <a:ext cx="12700" cy="3975100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5958631" y="3645495"/>
            <a:ext cx="5623479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58631" y="4409480"/>
            <a:ext cx="5623479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958631" y="5173464"/>
            <a:ext cx="5623479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748"/>
            <a:ext cx="1158211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ТЕРМИНОЛОГИЧЕСКИЙ БАЗИС ПО ГОСТ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54467"/>
            <a:ext cx="10972526" cy="67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50" b="1" spc="-35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Ключевые термины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609585" y="1796256"/>
            <a:ext cx="2118267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1909004"/>
            <a:ext cx="199127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СТАНОК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6582" y="2243869"/>
            <a:ext cx="1864274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Токарный станок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станок для обработки тел вращения снятием стружки.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880248" y="1796256"/>
            <a:ext cx="2042069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8" name="Text 6"/>
          <p:cNvSpPr/>
          <p:nvPr/>
        </p:nvSpPr>
        <p:spPr>
          <a:xfrm>
            <a:off x="3007245" y="1909004"/>
            <a:ext cx="191507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ПРИВОД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07245" y="2243869"/>
            <a:ext cx="1788076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Шпиндель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полый вал, передающий заготовке главное вращение.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74714" y="1796256"/>
            <a:ext cx="2042168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1" name="Text 9"/>
          <p:cNvSpPr/>
          <p:nvPr/>
        </p:nvSpPr>
        <p:spPr>
          <a:xfrm>
            <a:off x="5201710" y="1909004"/>
            <a:ext cx="191517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ЗАЖИМ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01710" y="2243869"/>
            <a:ext cx="1788175" cy="164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Патрон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приспособление шпинделя для жесткого закрепления детали.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269278" y="1796256"/>
            <a:ext cx="2042069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96275" y="1909004"/>
            <a:ext cx="191507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КАРЕТКА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96275" y="2243869"/>
            <a:ext cx="1788076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Суппорт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узел перемещения резцедержателя с инструментом по направляющим.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463744" y="1796256"/>
            <a:ext cx="2118367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7" name="Text 15"/>
          <p:cNvSpPr/>
          <p:nvPr/>
        </p:nvSpPr>
        <p:spPr>
          <a:xfrm>
            <a:off x="9590741" y="1909004"/>
            <a:ext cx="199137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ИНСТРУМЕНТ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90741" y="2243869"/>
            <a:ext cx="1864373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Резец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режущий инструмент с державкой и рабочей режущей кромкой.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09585" y="4405610"/>
            <a:ext cx="2118267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0" name="Text 18"/>
          <p:cNvSpPr/>
          <p:nvPr/>
        </p:nvSpPr>
        <p:spPr>
          <a:xfrm>
            <a:off x="736582" y="4518358"/>
            <a:ext cx="199127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· СКОРОСТЬ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582" y="4853223"/>
            <a:ext cx="1864274" cy="1915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Главное движение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вращение заготовки с окружной скоростью резания </a:t>
            </a:r>
            <a:pPr algn="l" indent="0" marL="0">
              <a:lnSpc>
                <a:spcPct val="114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2880248" y="4405610"/>
            <a:ext cx="2042069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3" name="Text 21"/>
          <p:cNvSpPr/>
          <p:nvPr/>
        </p:nvSpPr>
        <p:spPr>
          <a:xfrm>
            <a:off x="3007245" y="4518358"/>
            <a:ext cx="191507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· ПОДАЧА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07245" y="4853223"/>
            <a:ext cx="1788076" cy="164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Подача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поступательное перемещение резца за один оборот шпинделя </a:t>
            </a:r>
            <a:pPr algn="l" indent="0" marL="0">
              <a:lnSpc>
                <a:spcPct val="114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074714" y="4405610"/>
            <a:ext cx="2042168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6" name="Text 24"/>
          <p:cNvSpPr/>
          <p:nvPr/>
        </p:nvSpPr>
        <p:spPr>
          <a:xfrm>
            <a:off x="5201710" y="4518358"/>
            <a:ext cx="191517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· ГЛУБИНА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1710" y="4853223"/>
            <a:ext cx="1788175" cy="164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Глубина резания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толщина слоя металла, срезаемого резцом за один рабочий проход </a:t>
            </a:r>
            <a:pPr algn="l" indent="0" marL="0">
              <a:lnSpc>
                <a:spcPct val="114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269278" y="4405610"/>
            <a:ext cx="2042069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9" name="Text 27"/>
          <p:cNvSpPr/>
          <p:nvPr/>
        </p:nvSpPr>
        <p:spPr>
          <a:xfrm>
            <a:off x="7396275" y="4518358"/>
            <a:ext cx="191507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· КООРДИНАТЫ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96275" y="4853223"/>
            <a:ext cx="1788076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Оси X и Z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стандартизированные оси: Z — вдоль шпинделя, X — поперечная.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9463744" y="4405610"/>
            <a:ext cx="2118367" cy="2456954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32" name="Text 30"/>
          <p:cNvSpPr/>
          <p:nvPr/>
        </p:nvSpPr>
        <p:spPr>
          <a:xfrm>
            <a:off x="9590741" y="4518358"/>
            <a:ext cx="199137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2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· ЗАЩИТА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90741" y="4853223"/>
            <a:ext cx="1864373" cy="164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Аварийный останов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кнопка «грибок» мгновенного обесточивания всех приводов.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711182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ФОРМООБРАЗОВАНИЕ И КЛАССИФИКАЦИЯ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6502237" cy="167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Токарная обработка превращает заготовку в тело вращения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838196"/>
            <a:ext cx="65022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Обрабатывают наружные и внутренние поверхности, торцы, канавки, резьбу и отверстия.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992" y="609600"/>
            <a:ext cx="3251119" cy="2217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0992" y="2939613"/>
            <a:ext cx="3251119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Типовая деталь: ступенчатый вал с канавками и резьбой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150023"/>
            <a:ext cx="3962301" cy="2707977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8" name="Shape 5"/>
          <p:cNvSpPr/>
          <p:nvPr/>
        </p:nvSpPr>
        <p:spPr>
          <a:xfrm>
            <a:off x="152396" y="4277023"/>
            <a:ext cx="2169661" cy="385961"/>
          </a:xfrm>
          <a:prstGeom prst="roundRect">
            <a:avLst>
              <a:gd name="adj" fmla="val 7897"/>
            </a:avLst>
          </a:prstGeom>
          <a:solidFill>
            <a:srgbClr val="3A7896"/>
          </a:solidFill>
          <a:ln/>
        </p:spPr>
      </p:sp>
      <p:sp>
        <p:nvSpPr>
          <p:cNvPr id="9" name="Text 6"/>
          <p:cNvSpPr/>
          <p:nvPr/>
        </p:nvSpPr>
        <p:spPr>
          <a:xfrm>
            <a:off x="266693" y="4365228"/>
            <a:ext cx="2550652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УНИВЕРСАЛЬНЫЕ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2396" y="4889742"/>
            <a:ext cx="380990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Токарно-винторезные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2396" y="5388828"/>
            <a:ext cx="3657509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Ручное управление, штучное и опытное производство, нарезание резьб ходовым винтом.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697" y="4150023"/>
            <a:ext cx="3962301" cy="2707977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3" name="Shape 10"/>
          <p:cNvSpPr/>
          <p:nvPr/>
        </p:nvSpPr>
        <p:spPr>
          <a:xfrm>
            <a:off x="4267093" y="4277023"/>
            <a:ext cx="1444787" cy="385961"/>
          </a:xfrm>
          <a:prstGeom prst="roundRect">
            <a:avLst>
              <a:gd name="adj" fmla="val 7897"/>
            </a:avLst>
          </a:prstGeom>
          <a:solidFill>
            <a:srgbClr val="3A7896"/>
          </a:solidFill>
          <a:ln/>
        </p:spPr>
      </p:sp>
      <p:sp>
        <p:nvSpPr>
          <p:cNvPr id="14" name="Text 11"/>
          <p:cNvSpPr/>
          <p:nvPr/>
        </p:nvSpPr>
        <p:spPr>
          <a:xfrm>
            <a:off x="4381390" y="4365228"/>
            <a:ext cx="182577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СЕРИЙНЫЕ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67093" y="4889742"/>
            <a:ext cx="380990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Автоматы и полуавтоматы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67093" y="5388828"/>
            <a:ext cx="3657509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Кулачковые и гидравлические циклы, крупносерийный выпуск деталей из прутка.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9394" y="4150023"/>
            <a:ext cx="3962301" cy="2707977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8" name="Shape 15"/>
          <p:cNvSpPr/>
          <p:nvPr/>
        </p:nvSpPr>
        <p:spPr>
          <a:xfrm>
            <a:off x="8381790" y="4277023"/>
            <a:ext cx="1634290" cy="385961"/>
          </a:xfrm>
          <a:prstGeom prst="roundRect">
            <a:avLst>
              <a:gd name="adj" fmla="val 7897"/>
            </a:avLst>
          </a:prstGeom>
          <a:solidFill>
            <a:srgbClr val="3A7896"/>
          </a:solidFill>
          <a:ln/>
        </p:spPr>
      </p:sp>
      <p:sp>
        <p:nvSpPr>
          <p:cNvPr id="19" name="Text 16"/>
          <p:cNvSpPr/>
          <p:nvPr/>
        </p:nvSpPr>
        <p:spPr>
          <a:xfrm>
            <a:off x="8496087" y="4365228"/>
            <a:ext cx="2015281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ЧПУ СТАНКИ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81790" y="4889742"/>
            <a:ext cx="380990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Станки с ЧПУ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81790" y="5388828"/>
            <a:ext cx="3657509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Числовое программное управление, револьверные головки, сложный фасонный профиль.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347"/>
            <a:ext cx="11582110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КОНСТРУКТИВНАЯ БАЗА ТОКАРНОЙ ГРУППЫ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60"/>
            <a:ext cx="10972526" cy="64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00" b="1" spc="-33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Шесть узлов станка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9585" y="1711722"/>
            <a:ext cx="3505112" cy="242212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1899269"/>
            <a:ext cx="3301917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БАЗА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80" y="2177337"/>
            <a:ext cx="3098722" cy="330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Станина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780" y="2646779"/>
            <a:ext cx="3098722" cy="741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Массивное чугунное основание с закаленными направляющими для каретки и задней бабки.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19489" y="1711722"/>
            <a:ext cx="3352716" cy="242212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9" name="Text 7"/>
          <p:cNvSpPr/>
          <p:nvPr/>
        </p:nvSpPr>
        <p:spPr>
          <a:xfrm>
            <a:off x="4622684" y="1899269"/>
            <a:ext cx="3149521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ПРИВОД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22684" y="2177337"/>
            <a:ext cx="2946326" cy="330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Передняя бабка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2684" y="2646779"/>
            <a:ext cx="2946326" cy="988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Коробка скоростей и прецизионный шпиндельный узел, задающий вращение заготовке.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76998" y="1711722"/>
            <a:ext cx="3505112" cy="242212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3" name="Text 11"/>
          <p:cNvSpPr/>
          <p:nvPr/>
        </p:nvSpPr>
        <p:spPr>
          <a:xfrm>
            <a:off x="8280193" y="1899269"/>
            <a:ext cx="3301917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ФИКСАЦИЯ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80193" y="2177337"/>
            <a:ext cx="3098722" cy="330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Патрон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80193" y="2646779"/>
            <a:ext cx="3098722" cy="988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Самоцентрирующий 3-кулачковый или цанговый механизм закрепления детали на шпинделе.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5" y="4438650"/>
            <a:ext cx="3505112" cy="242212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7" name="Text 15"/>
          <p:cNvSpPr/>
          <p:nvPr/>
        </p:nvSpPr>
        <p:spPr>
          <a:xfrm>
            <a:off x="812780" y="4626197"/>
            <a:ext cx="3301917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ПОДАЧА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780" y="4904265"/>
            <a:ext cx="3098722" cy="330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Суппорт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2780" y="5373707"/>
            <a:ext cx="3098722" cy="988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Каретка продольного и поперечного хода с резцедержателем для установки режущего резца.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419489" y="4438650"/>
            <a:ext cx="3352716" cy="242212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1" name="Text 19"/>
          <p:cNvSpPr/>
          <p:nvPr/>
        </p:nvSpPr>
        <p:spPr>
          <a:xfrm>
            <a:off x="4622684" y="4626197"/>
            <a:ext cx="3149521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ОПОРА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22684" y="4904265"/>
            <a:ext cx="2946326" cy="330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Задняя бабка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22684" y="5373707"/>
            <a:ext cx="2946326" cy="1235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Поддержка длинных валов упорным центром и базирование осевого инструмента (сверла, развертки).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076998" y="4438650"/>
            <a:ext cx="3505112" cy="2422128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5" name="Text 23"/>
          <p:cNvSpPr/>
          <p:nvPr/>
        </p:nvSpPr>
        <p:spPr>
          <a:xfrm>
            <a:off x="8280193" y="4626197"/>
            <a:ext cx="3301917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· АВТОМАТИЗАЦИЯ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193" y="4904265"/>
            <a:ext cx="3098722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Револьверная головка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80193" y="5704006"/>
            <a:ext cx="3098722" cy="988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Поворотный инструментальный магазин станков с ЧПУ на 8–12 позиций с быстрой сменой резцов.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СТАНДАРТ ISO 841 / ГОСТ 23597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Устройство токарного станка и направления координат X/Z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222500"/>
            <a:ext cx="6756231" cy="4533900"/>
          </a:xfrm>
          <a:prstGeom prst="rect">
            <a:avLst/>
          </a:prstGeom>
          <a:solidFill>
            <a:srgbClr val="111A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2349500"/>
            <a:ext cx="6502237" cy="317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70509" y="2222500"/>
            <a:ext cx="3911601" cy="4533900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7" name="Shape 4"/>
          <p:cNvSpPr/>
          <p:nvPr/>
        </p:nvSpPr>
        <p:spPr>
          <a:xfrm>
            <a:off x="7848304" y="2374900"/>
            <a:ext cx="2484574" cy="385961"/>
          </a:xfrm>
          <a:prstGeom prst="roundRect">
            <a:avLst>
              <a:gd name="adj" fmla="val 7897"/>
            </a:avLst>
          </a:prstGeom>
          <a:solidFill>
            <a:srgbClr val="483004"/>
          </a:solidFill>
          <a:ln/>
        </p:spPr>
      </p:sp>
      <p:sp>
        <p:nvSpPr>
          <p:cNvPr id="8" name="Text 5"/>
          <p:cNvSpPr/>
          <p:nvPr/>
        </p:nvSpPr>
        <p:spPr>
          <a:xfrm>
            <a:off x="7962602" y="2463106"/>
            <a:ext cx="286556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ПРАВИЛО ОСЕЙ ЧПУ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48304" y="2903646"/>
            <a:ext cx="355601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Ось Z — продольная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848304" y="3429738"/>
            <a:ext cx="3556010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Совпадает с осью вращения шпинделя. Направление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+Z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от патрона в сторону задней бабки (удаление резца от детали).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48304" y="4683233"/>
            <a:ext cx="355601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Ось X — поперечная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848304" y="5209326"/>
            <a:ext cx="3556010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Перпендикулярна оси шпинделя. Направление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+X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отвод инструмента от оси детали (увеличение диаметра).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ТЕОРИЯ РЕЗАНИЯ МАТЕРИАЛОВ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Движения при резании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881188"/>
            <a:ext cx="1684097" cy="385961"/>
          </a:xfrm>
          <a:prstGeom prst="roundRect">
            <a:avLst>
              <a:gd name="adj" fmla="val 7897"/>
            </a:avLst>
          </a:prstGeom>
          <a:solidFill>
            <a:srgbClr val="483004"/>
          </a:solidFill>
          <a:ln/>
        </p:spPr>
      </p:sp>
      <p:sp>
        <p:nvSpPr>
          <p:cNvPr id="5" name="Text 3"/>
          <p:cNvSpPr/>
          <p:nvPr/>
        </p:nvSpPr>
        <p:spPr>
          <a:xfrm>
            <a:off x="723882" y="1969393"/>
            <a:ext cx="2065087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ГЛАВНОЕ: DR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407272"/>
            <a:ext cx="2590735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Вращение заготовки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175738"/>
            <a:ext cx="259073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Скорость резания V (м/мин)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3879016"/>
            <a:ext cx="2590735" cy="92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Круговое вращение шпинделя с заготовкой, обеспечивающее съем стружки по окружности.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5112" y="1881188"/>
            <a:ext cx="1574165" cy="385961"/>
          </a:xfrm>
          <a:prstGeom prst="roundRect">
            <a:avLst>
              <a:gd name="adj" fmla="val 7897"/>
            </a:avLst>
          </a:prstGeom>
          <a:solidFill>
            <a:srgbClr val="483004"/>
          </a:solidFill>
          <a:ln/>
        </p:spPr>
      </p:sp>
      <p:sp>
        <p:nvSpPr>
          <p:cNvPr id="10" name="Text 8"/>
          <p:cNvSpPr/>
          <p:nvPr/>
        </p:nvSpPr>
        <p:spPr>
          <a:xfrm>
            <a:off x="3619409" y="1969393"/>
            <a:ext cx="195515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ПОДАЧА: 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5112" y="2407272"/>
            <a:ext cx="243833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Ход суппорта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5112" y="2876098"/>
            <a:ext cx="243833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Подача s (мм/об или мм/мин)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05112" y="3579376"/>
            <a:ext cx="2438339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Поступательное движение резца (продольное вдоль Z или поперечное вдоль X).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1881188"/>
            <a:ext cx="1121045" cy="385961"/>
          </a:xfrm>
          <a:prstGeom prst="roundRect">
            <a:avLst>
              <a:gd name="adj" fmla="val 7897"/>
            </a:avLst>
          </a:prstGeom>
          <a:solidFill>
            <a:srgbClr val="483004"/>
          </a:solidFill>
          <a:ln/>
        </p:spPr>
      </p:sp>
      <p:sp>
        <p:nvSpPr>
          <p:cNvPr id="15" name="Text 13"/>
          <p:cNvSpPr/>
          <p:nvPr/>
        </p:nvSpPr>
        <p:spPr>
          <a:xfrm>
            <a:off x="6362541" y="1969393"/>
            <a:ext cx="1502035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СЛОЙ: 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48244" y="2407272"/>
            <a:ext cx="243833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Глубина резания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48244" y="2876098"/>
            <a:ext cx="259073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Глубина t (мм)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8244" y="3298984"/>
            <a:ext cx="2438339" cy="11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Толщина снимаемого слоя металла, измеренная перпендикулярно обработанной поверхности за проход.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91375" y="1881188"/>
            <a:ext cx="1559878" cy="385961"/>
          </a:xfrm>
          <a:prstGeom prst="roundRect">
            <a:avLst>
              <a:gd name="adj" fmla="val 7897"/>
            </a:avLst>
          </a:prstGeom>
          <a:solidFill>
            <a:srgbClr val="483004"/>
          </a:solidFill>
          <a:ln/>
        </p:spPr>
      </p:sp>
      <p:sp>
        <p:nvSpPr>
          <p:cNvPr id="20" name="Text 18"/>
          <p:cNvSpPr/>
          <p:nvPr/>
        </p:nvSpPr>
        <p:spPr>
          <a:xfrm>
            <a:off x="9105672" y="1969393"/>
            <a:ext cx="1940869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СЕРВИСНЫЕ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91375" y="2407272"/>
            <a:ext cx="2590735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Вспомогательные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91375" y="2876098"/>
            <a:ext cx="259073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Установка и СОЖ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91375" y="3298984"/>
            <a:ext cx="2590735" cy="11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Закрепление детали, быстрый подвод/отвод резца, позиционирование головки, подача СОЖ в зону реза.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46366" y="1754188"/>
            <a:ext cx="12700" cy="4494212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9498" y="1754188"/>
            <a:ext cx="12700" cy="4494212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8832629" y="1754188"/>
            <a:ext cx="12700" cy="4494212"/>
          </a:xfrm>
          <a:prstGeom prst="rect">
            <a:avLst/>
          </a:prstGeom>
          <a:solidFill>
            <a:srgbClr val="3A789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РЕГЛАМЕНТ БЕЗОПАСНОСТИ ПЕРЕД ВКЛЮЧЕНИЕМ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Проверка готовности станка перед пуском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28773"/>
            <a:ext cx="304792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1374" y="1853036"/>
            <a:ext cx="4825879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1. Заготовка и резец надёжно закреплены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1928773"/>
            <a:ext cx="304792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231" y="1853036"/>
            <a:ext cx="4825879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2. Кнопка аварийного останова исправна</a:t>
            </a:r>
            <a:endParaRPr lang="en-US" sz="2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259495"/>
            <a:ext cx="304792" cy="30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41374" y="3183758"/>
            <a:ext cx="4825879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3. Органы управления работают, рукоятки в нейтрали</a:t>
            </a:r>
            <a:endParaRPr lang="en-US" sz="2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3259495"/>
            <a:ext cx="304792" cy="304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56231" y="3183758"/>
            <a:ext cx="482587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4. Ограждение патрона закрыто</a:t>
            </a:r>
            <a:endParaRPr lang="en-US" sz="2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361617"/>
            <a:ext cx="304792" cy="3048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41374" y="4285880"/>
            <a:ext cx="482587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5. Уровень СОЖ в баке достаточен</a:t>
            </a:r>
            <a:endParaRPr lang="en-US" sz="20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4361617"/>
            <a:ext cx="304792" cy="3048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56231" y="4285880"/>
            <a:ext cx="482587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6. Смазка узлов в норме</a:t>
            </a:r>
            <a:endParaRPr lang="en-US" sz="2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5463739"/>
            <a:ext cx="304792" cy="3048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41374" y="5388001"/>
            <a:ext cx="4825879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7. Рабочая зона свободна от инструмента</a:t>
            </a:r>
            <a:endParaRPr lang="en-US" sz="20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2" y="5463739"/>
            <a:ext cx="304792" cy="3048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756231" y="5388001"/>
            <a:ext cx="482587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8. Режущая кромка не изношена</a:t>
            </a:r>
            <a:endParaRPr lang="en-US" sz="2000" dirty="0"/>
          </a:p>
        </p:txBody>
      </p:sp>
      <p:sp>
        <p:nvSpPr>
          <p:cNvPr id="20" name="Shape 10"/>
          <p:cNvSpPr/>
          <p:nvPr/>
        </p:nvSpPr>
        <p:spPr>
          <a:xfrm>
            <a:off x="6089498" y="1839913"/>
            <a:ext cx="12700" cy="1102122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1" name="Shape 11"/>
          <p:cNvSpPr/>
          <p:nvPr/>
        </p:nvSpPr>
        <p:spPr>
          <a:xfrm>
            <a:off x="609585" y="2935684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2" name="Shape 12"/>
          <p:cNvSpPr/>
          <p:nvPr/>
        </p:nvSpPr>
        <p:spPr>
          <a:xfrm>
            <a:off x="6089498" y="2942034"/>
            <a:ext cx="12700" cy="1102122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3" name="Shape 13"/>
          <p:cNvSpPr/>
          <p:nvPr/>
        </p:nvSpPr>
        <p:spPr>
          <a:xfrm>
            <a:off x="6095848" y="2935684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4" name="Shape 14"/>
          <p:cNvSpPr/>
          <p:nvPr/>
        </p:nvSpPr>
        <p:spPr>
          <a:xfrm>
            <a:off x="609585" y="4037806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5" name="Shape 15"/>
          <p:cNvSpPr/>
          <p:nvPr/>
        </p:nvSpPr>
        <p:spPr>
          <a:xfrm>
            <a:off x="6089498" y="4044156"/>
            <a:ext cx="12700" cy="1102122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6" name="Shape 16"/>
          <p:cNvSpPr/>
          <p:nvPr/>
        </p:nvSpPr>
        <p:spPr>
          <a:xfrm>
            <a:off x="6095848" y="4037806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7" name="Shape 17"/>
          <p:cNvSpPr/>
          <p:nvPr/>
        </p:nvSpPr>
        <p:spPr>
          <a:xfrm>
            <a:off x="609585" y="5139928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8" name="Shape 18"/>
          <p:cNvSpPr/>
          <p:nvPr/>
        </p:nvSpPr>
        <p:spPr>
          <a:xfrm>
            <a:off x="6089498" y="5146278"/>
            <a:ext cx="12700" cy="1102122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9" name="Shape 19"/>
          <p:cNvSpPr/>
          <p:nvPr/>
        </p:nvSpPr>
        <p:spPr>
          <a:xfrm>
            <a:off x="6095848" y="5139928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851"/>
            <a:ext cx="11582110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5" kern="100" dirty="0">
                <a:solidFill>
                  <a:srgbClr val="F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КАТЕГОРИЧЕСКИЕ ЗАПРЕТЫ ПО ТЕХНИКЕ БЕЗОПАСНОСТИ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4042"/>
            <a:ext cx="10972526" cy="642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50" b="1" spc="-33" kern="100" dirty="0">
                <a:solidFill>
                  <a:srgbClr val="CDDBE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При вращающемся шпинделе запрещено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609585" y="1699320"/>
            <a:ext cx="3581310" cy="2500313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5" name="Shape 3"/>
          <p:cNvSpPr/>
          <p:nvPr/>
        </p:nvSpPr>
        <p:spPr>
          <a:xfrm>
            <a:off x="761981" y="1851720"/>
            <a:ext cx="2390715" cy="350937"/>
          </a:xfrm>
          <a:prstGeom prst="roundRect">
            <a:avLst>
              <a:gd name="adj" fmla="val 8685"/>
            </a:avLst>
          </a:prstGeom>
          <a:solidFill>
            <a:srgbClr val="B42318"/>
          </a:solidFill>
          <a:ln/>
        </p:spPr>
      </p:sp>
      <p:sp>
        <p:nvSpPr>
          <p:cNvPr id="6" name="Text 4"/>
          <p:cNvSpPr/>
          <p:nvPr/>
        </p:nvSpPr>
        <p:spPr>
          <a:xfrm>
            <a:off x="876278" y="1934104"/>
            <a:ext cx="2771706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1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ОПАСНОСТЬ ЗАХВАТА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981" y="2294971"/>
            <a:ext cx="3276518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Уборка стружки руками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981" y="3084707"/>
            <a:ext cx="3276518" cy="973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Запрещено касаться заготовки, сметать стружку или протирать ветошью. Использовать только крючок и щетку при останове.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291" y="1699320"/>
            <a:ext cx="3505112" cy="2500313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0" name="Shape 8"/>
          <p:cNvSpPr/>
          <p:nvPr/>
        </p:nvSpPr>
        <p:spPr>
          <a:xfrm>
            <a:off x="4495688" y="1851720"/>
            <a:ext cx="2350731" cy="350937"/>
          </a:xfrm>
          <a:prstGeom prst="roundRect">
            <a:avLst>
              <a:gd name="adj" fmla="val 8685"/>
            </a:avLst>
          </a:prstGeom>
          <a:solidFill>
            <a:srgbClr val="B42318"/>
          </a:solidFill>
          <a:ln/>
        </p:spPr>
      </p:sp>
      <p:sp>
        <p:nvSpPr>
          <p:cNvPr id="11" name="Text 9"/>
          <p:cNvSpPr/>
          <p:nvPr/>
        </p:nvSpPr>
        <p:spPr>
          <a:xfrm>
            <a:off x="4609985" y="1934104"/>
            <a:ext cx="273172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1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ПОЛОМКА И ТРАВМА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5688" y="2294971"/>
            <a:ext cx="320032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Измерение детали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95688" y="2757880"/>
            <a:ext cx="3200320" cy="1216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Запрещено прикладывать штангенциркуль, микрометр или калибр к вращающейся детали. Измерения — только при полном останове.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00800" y="1699320"/>
            <a:ext cx="3581310" cy="2500313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3196" y="1851720"/>
            <a:ext cx="2672787" cy="350937"/>
          </a:xfrm>
          <a:prstGeom prst="roundRect">
            <a:avLst>
              <a:gd name="adj" fmla="val 8685"/>
            </a:avLst>
          </a:prstGeom>
          <a:solidFill>
            <a:srgbClr val="B42318"/>
          </a:solidFill>
          <a:ln/>
        </p:spPr>
      </p:sp>
      <p:sp>
        <p:nvSpPr>
          <p:cNvPr id="16" name="Text 14"/>
          <p:cNvSpPr/>
          <p:nvPr/>
        </p:nvSpPr>
        <p:spPr>
          <a:xfrm>
            <a:off x="8267493" y="1934104"/>
            <a:ext cx="3053778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1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ТЯЖЕЛЫЙ ТРАВМАТИЗМ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53196" y="2294971"/>
            <a:ext cx="3276518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Торможение патрона рукой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53196" y="3084707"/>
            <a:ext cx="3276518" cy="973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Запрещено останавливать вращающийся патрон руками или рычагами. Останов производится исключительно штатным тормозом.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5" y="4352032"/>
            <a:ext cx="3581310" cy="2500313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0" name="Shape 18"/>
          <p:cNvSpPr/>
          <p:nvPr/>
        </p:nvSpPr>
        <p:spPr>
          <a:xfrm>
            <a:off x="761981" y="4504432"/>
            <a:ext cx="2598375" cy="350937"/>
          </a:xfrm>
          <a:prstGeom prst="roundRect">
            <a:avLst>
              <a:gd name="adj" fmla="val 8685"/>
            </a:avLst>
          </a:prstGeom>
          <a:solidFill>
            <a:srgbClr val="B42318"/>
          </a:solidFill>
          <a:ln/>
        </p:spPr>
      </p:sp>
      <p:sp>
        <p:nvSpPr>
          <p:cNvPr id="21" name="Text 19"/>
          <p:cNvSpPr/>
          <p:nvPr/>
        </p:nvSpPr>
        <p:spPr>
          <a:xfrm>
            <a:off x="876278" y="4586816"/>
            <a:ext cx="297936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1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НАМАТЫВАНИЕ НА ВАЛ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1981" y="4947684"/>
            <a:ext cx="327651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Работа в перчатках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1981" y="5410593"/>
            <a:ext cx="3276518" cy="973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Категорически запрещены перчатки, рукавицы, распущенные волосы, шарфы и свисающие края спецодежды у шпинделя.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343291" y="4352032"/>
            <a:ext cx="3505112" cy="2500313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25" name="Shape 23"/>
          <p:cNvSpPr/>
          <p:nvPr/>
        </p:nvSpPr>
        <p:spPr>
          <a:xfrm>
            <a:off x="4495688" y="4504432"/>
            <a:ext cx="2481399" cy="350937"/>
          </a:xfrm>
          <a:prstGeom prst="roundRect">
            <a:avLst>
              <a:gd name="adj" fmla="val 8685"/>
            </a:avLst>
          </a:prstGeom>
          <a:solidFill>
            <a:srgbClr val="B42318"/>
          </a:solidFill>
          <a:ln/>
        </p:spPr>
      </p:sp>
      <p:sp>
        <p:nvSpPr>
          <p:cNvPr id="26" name="Text 24"/>
          <p:cNvSpPr/>
          <p:nvPr/>
        </p:nvSpPr>
        <p:spPr>
          <a:xfrm>
            <a:off x="4609985" y="4586816"/>
            <a:ext cx="2862389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1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СМЕРТЕЛЬНЫЙ ВЫЛЕТ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95688" y="4947684"/>
            <a:ext cx="320032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Ключ в патроне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495688" y="5410593"/>
            <a:ext cx="3200320" cy="973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Запрещено оставлять патронный ключ в гнезде даже на секунду. Взял ключ — зажал — немедленно вынул и положил на лоток.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000800" y="4352032"/>
            <a:ext cx="3581310" cy="2500313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30" name="Shape 28"/>
          <p:cNvSpPr/>
          <p:nvPr/>
        </p:nvSpPr>
        <p:spPr>
          <a:xfrm>
            <a:off x="8153196" y="4504432"/>
            <a:ext cx="2162121" cy="350937"/>
          </a:xfrm>
          <a:prstGeom prst="roundRect">
            <a:avLst>
              <a:gd name="adj" fmla="val 8685"/>
            </a:avLst>
          </a:prstGeom>
          <a:solidFill>
            <a:srgbClr val="B42318"/>
          </a:solidFill>
          <a:ln/>
        </p:spPr>
      </p:sp>
      <p:sp>
        <p:nvSpPr>
          <p:cNvPr id="31" name="Text 29"/>
          <p:cNvSpPr/>
          <p:nvPr/>
        </p:nvSpPr>
        <p:spPr>
          <a:xfrm>
            <a:off x="8267493" y="4586816"/>
            <a:ext cx="254311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1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ПОТЕРЯ КОНТРОЛЯ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53196" y="4947684"/>
            <a:ext cx="327651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Отлучение от станка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153196" y="5410593"/>
            <a:ext cx="3276518" cy="729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Запрещено отходить от станка при включенном главном приводе или автоматическом цикле обработки.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КОНТРОЛЬ ЗНАНИЙ ПО ТЕМЕ 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Вопросы для самопроверки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952228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7985" y="1939951"/>
            <a:ext cx="10504125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Для чего предназначен токарный станок и какие основные группы различают в промышленности?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845991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7985" y="2833714"/>
            <a:ext cx="10504125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Назовите шесть базовых узлов станка и укажите технологическую функцию каждого из них.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3739753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7985" y="3727476"/>
            <a:ext cx="10504125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Как направлена ось координат Z и чем обусловлено ее взаимное расположение со шпинделем?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4633516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7985" y="4621239"/>
            <a:ext cx="10504125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 чем принципиальное кинематическое отличие главного движения резания от движения подачи?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585" y="5527278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7985" y="5515001"/>
            <a:ext cx="10504125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Перечислите главные запреты по охране труда при вращающемся шпинделе токарного станка.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9585" y="2667000"/>
            <a:ext cx="10972526" cy="12700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3560763"/>
            <a:ext cx="10972526" cy="12700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4454525"/>
            <a:ext cx="10972526" cy="12700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5348288"/>
            <a:ext cx="10972526" cy="12700"/>
          </a:xfrm>
          <a:prstGeom prst="rect">
            <a:avLst/>
          </a:prstGeom>
          <a:solidFill>
            <a:srgbClr val="3A789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2026-10-13T20:58:08Z</dcterms:created>
  <dcterms:modified xsi:type="dcterms:W3CDTF">2026-10-13T20:58:08Z</dcterms:modified>
</cp:coreProperties>
</file>