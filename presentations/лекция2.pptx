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D8E794E-07A7-49FC-A8B8-E81D8C8B93A9}" type="datetimeFigureOut">
              <a:rPr lang="ru-RU"/>
              <a:t>11.11.2025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1FC1104-E05B-48F9-B5D8-79FB746F6C43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Движение подачи может осуществляться, в продольном и поперечном направлениях относительно вращающейся заготовки.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FC1104-E05B-48F9-B5D8-79FB746F6C43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>
                <a:solidFill>
                  <a:srgbClr val="20426C"/>
                </a:solidFill>
                <a:latin typeface="Golos Text"/>
                <a:cs typeface="Golos Text"/>
              </a:rPr>
              <a:t>Величина подачи влияет не только на толщину стружки, но и на то, как стружка формируется в зависимости от геометрии пластины.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FC1104-E05B-48F9-B5D8-79FB746F6C43}" type="slidenum">
              <a:rPr lang="ru-RU"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ea typeface="+mn-ea"/>
                <a:cs typeface="Golos Text"/>
              </a:rPr>
              <a:t>Глубина резания (ap) в мм — это половина разности обрабатываемого и обработанного диаметра заготовки. Глубина резания всегда измеряется в направлении, перпендикулярном направлению подачи инструмента.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FC1104-E05B-48F9-B5D8-79FB746F6C43}" type="slidenum">
              <a:rPr lang="ru-RU"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Главный кадр управляющей программы обозначают специальным символом.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FC1104-E05B-48F9-B5D8-79FB746F6C43}" type="slidenum">
              <a:rPr lang="ru-RU"/>
              <a:t>16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4A6EFB0-CBDE-4DF2-A551-E7579EB853D3}" type="datetimeFigureOut">
              <a:rPr lang="ru-RU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D87C500-475C-44F7-8AB8-DC2183BD2F8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4A6EFB0-CBDE-4DF2-A551-E7579EB853D3}" type="datetimeFigureOut">
              <a:rPr lang="ru-RU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D87C500-475C-44F7-8AB8-DC2183BD2F8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4A6EFB0-CBDE-4DF2-A551-E7579EB853D3}" type="datetimeFigureOut">
              <a:rPr lang="ru-RU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D87C500-475C-44F7-8AB8-DC2183BD2F8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4A6EFB0-CBDE-4DF2-A551-E7579EB853D3}" type="datetimeFigureOut">
              <a:rPr lang="ru-RU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D87C500-475C-44F7-8AB8-DC2183BD2F8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4A6EFB0-CBDE-4DF2-A551-E7579EB853D3}" type="datetimeFigureOut">
              <a:rPr lang="ru-RU"/>
              <a:t>11.11.2025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D87C500-475C-44F7-8AB8-DC2183BD2F8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4A6EFB0-CBDE-4DF2-A551-E7579EB853D3}" type="datetimeFigureOut">
              <a:rPr lang="ru-RU"/>
              <a:t>11.11.2025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D87C500-475C-44F7-8AB8-DC2183BD2F8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4A6EFB0-CBDE-4DF2-A551-E7579EB853D3}" type="datetimeFigureOut">
              <a:rPr lang="ru-RU"/>
              <a:t>11.11.2025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D87C500-475C-44F7-8AB8-DC2183BD2F8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4A6EFB0-CBDE-4DF2-A551-E7579EB853D3}" type="datetimeFigureOut">
              <a:rPr lang="ru-RU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D87C500-475C-44F7-8AB8-DC2183BD2F8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4A6EFB0-CBDE-4DF2-A551-E7579EB853D3}" type="datetimeFigureOut">
              <a:rPr lang="ru-RU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D87C500-475C-44F7-8AB8-DC2183BD2F8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4A6EFB0-CBDE-4DF2-A551-E7579EB853D3}" type="datetimeFigureOut">
              <a:rPr lang="ru-RU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D87C500-475C-44F7-8AB8-DC2183BD2F8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4A6EFB0-CBDE-4DF2-A551-E7579EB853D3}" type="datetimeFigureOut">
              <a:rPr lang="ru-RU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D87C500-475C-44F7-8AB8-DC2183BD2F8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4A6EFB0-CBDE-4DF2-A551-E7579EB853D3}" type="datetimeFigureOut">
              <a:rPr lang="ru-RU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D87C500-475C-44F7-8AB8-DC2183BD2F8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6" Type="http://schemas.openxmlformats.org/officeDocument/2006/relationships/image" Target="../media/image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6" Type="http://schemas.openxmlformats.org/officeDocument/2006/relationships/image" Target="../media/image1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6" Type="http://schemas.openxmlformats.org/officeDocument/2006/relationships/image" Target="../media/image1.png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6" Type="http://schemas.openxmlformats.org/officeDocument/2006/relationships/image" Target="../media/image1.png"/><Relationship Id="rId5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6" Type="http://schemas.openxmlformats.org/officeDocument/2006/relationships/image" Target="../media/image1.png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6" Type="http://schemas.openxmlformats.org/officeDocument/2006/relationships/image" Target="../media/image1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543875"/>
          </a:xfrm>
        </p:spPr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56000" y="2762312"/>
            <a:ext cx="10515600" cy="83837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ru-RU">
                <a:latin typeface="Golos Text"/>
                <a:cs typeface="Golos Text"/>
              </a:rPr>
              <a:t>Программа ДПО «Подготовка и контроль управляющих программ для станков с ЧПУ токарной группы»</a:t>
            </a:r>
          </a:p>
        </p:txBody>
      </p:sp>
      <p:sp>
        <p:nvSpPr>
          <p:cNvPr id="7" name="Объект 4"/>
          <p:cNvSpPr txBox="1"/>
          <p:nvPr/>
        </p:nvSpPr>
        <p:spPr bwMode="auto">
          <a:xfrm>
            <a:off x="838200" y="5454000"/>
            <a:ext cx="10515600" cy="83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ru-RU">
                <a:latin typeface="Golos Text"/>
                <a:cs typeface="Golos Text"/>
              </a:rPr>
              <a:t>Москва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D8294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21000" y="0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600">
                <a:solidFill>
                  <a:schemeClr val="bg1"/>
                </a:solidFill>
                <a:latin typeface="Golos Text DemiBold"/>
                <a:cs typeface="Golos Text DemiBold"/>
              </a:rPr>
              <a:t>Структура программы</a:t>
            </a:r>
          </a:p>
        </p:txBody>
      </p:sp>
      <p:sp>
        <p:nvSpPr>
          <p:cNvPr id="5" name="Объект 4"/>
          <p:cNvSpPr txBox="1"/>
          <p:nvPr/>
        </p:nvSpPr>
        <p:spPr bwMode="auto">
          <a:xfrm>
            <a:off x="921000" y="1535085"/>
            <a:ext cx="10515600" cy="369391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dirty="0">
                <a:solidFill>
                  <a:schemeClr val="bg1"/>
                </a:solidFill>
                <a:latin typeface="Golos Text"/>
                <a:cs typeface="Golos Text"/>
              </a:rPr>
              <a:t>Модуль 1  </a:t>
            </a:r>
            <a:r>
              <a:rPr lang="en-US" dirty="0">
                <a:solidFill>
                  <a:schemeClr val="bg1"/>
                </a:solidFill>
                <a:latin typeface="Golos Text"/>
                <a:cs typeface="Golos Text"/>
              </a:rPr>
              <a:t>: </a:t>
            </a:r>
            <a:r>
              <a:rPr lang="ru-RU" dirty="0">
                <a:solidFill>
                  <a:schemeClr val="bg1"/>
                </a:solidFill>
                <a:latin typeface="Golos Text"/>
                <a:cs typeface="Golos Text"/>
              </a:rPr>
              <a:t>«Автоматизированная разработка управляющих программ для токарных станков с ЧПУ»</a:t>
            </a:r>
            <a:endParaRPr dirty="0"/>
          </a:p>
          <a:p>
            <a:pPr marL="0" indent="0">
              <a:buNone/>
              <a:defRPr/>
            </a:pPr>
            <a:endParaRPr lang="ru-RU" dirty="0">
              <a:solidFill>
                <a:schemeClr val="bg1"/>
              </a:solidFill>
              <a:latin typeface="Golos Text"/>
              <a:cs typeface="Golos Text"/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bg1"/>
                </a:solidFill>
                <a:latin typeface="Golos Text"/>
                <a:cs typeface="Golos Text"/>
              </a:rPr>
              <a:t>Модуль 2 </a:t>
            </a:r>
            <a:r>
              <a:rPr lang="en-US" dirty="0">
                <a:solidFill>
                  <a:schemeClr val="bg1"/>
                </a:solidFill>
                <a:latin typeface="Golos Text"/>
                <a:cs typeface="Golos Text"/>
              </a:rPr>
              <a:t> : </a:t>
            </a:r>
            <a:r>
              <a:rPr lang="ru-RU" dirty="0">
                <a:solidFill>
                  <a:schemeClr val="bg1"/>
                </a:solidFill>
                <a:latin typeface="Golos Text"/>
                <a:cs typeface="Golos Text"/>
              </a:rPr>
              <a:t>«Разработка управляющей программы токарной обработки на УЧПУ»</a:t>
            </a:r>
            <a:endParaRPr dirty="0"/>
          </a:p>
          <a:p>
            <a:pPr marL="0" indent="0">
              <a:buNone/>
              <a:defRPr/>
            </a:pPr>
            <a:endParaRPr lang="ru-RU" dirty="0">
              <a:solidFill>
                <a:schemeClr val="bg1"/>
              </a:solidFill>
              <a:latin typeface="Golos Text"/>
              <a:cs typeface="Golos Text"/>
            </a:endParaRPr>
          </a:p>
          <a:p>
            <a:pPr marL="0" indent="0" algn="ctr">
              <a:buNone/>
              <a:defRPr/>
            </a:pPr>
            <a:endParaRPr lang="ru-RU" dirty="0">
              <a:solidFill>
                <a:schemeClr val="bg1"/>
              </a:solidFill>
              <a:latin typeface="Golos Text"/>
              <a:cs typeface="Golos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56000" y="2349000"/>
            <a:ext cx="10515600" cy="1710000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20426C"/>
                </a:solidFill>
                <a:latin typeface="Golos Text"/>
                <a:cs typeface="Golos Text"/>
              </a:rPr>
              <a:t>Модуль 1  </a:t>
            </a:r>
            <a:r>
              <a:rPr lang="en-US" dirty="0">
                <a:solidFill>
                  <a:srgbClr val="20426C"/>
                </a:solidFill>
                <a:latin typeface="Golos Text"/>
                <a:cs typeface="Golos Text"/>
              </a:rPr>
              <a:t>: </a:t>
            </a:r>
            <a:r>
              <a:rPr lang="ru-RU" dirty="0">
                <a:solidFill>
                  <a:srgbClr val="20426C"/>
                </a:solidFill>
                <a:latin typeface="Golos Text"/>
                <a:cs typeface="Golos Text"/>
              </a:rPr>
              <a:t>«Автоматизированная разработка управляющих программ для токарных станков с ЧПУ»</a:t>
            </a:r>
            <a:endParaRPr dirty="0"/>
          </a:p>
          <a:p>
            <a:pPr marL="0" indent="0" algn="ctr">
              <a:buNone/>
              <a:defRPr/>
            </a:pPr>
            <a:r>
              <a:rPr lang="ru-RU" dirty="0">
                <a:solidFill>
                  <a:srgbClr val="20426C"/>
                </a:solidFill>
                <a:latin typeface="Golos Text"/>
                <a:cs typeface="Golos Text"/>
              </a:rPr>
              <a:t>Лекция </a:t>
            </a:r>
            <a:r>
              <a:rPr lang="en-US" dirty="0">
                <a:solidFill>
                  <a:srgbClr val="20426C"/>
                </a:solidFill>
                <a:latin typeface="Golos Text"/>
                <a:cs typeface="Golos Text"/>
              </a:rPr>
              <a:t>#</a:t>
            </a:r>
            <a:r>
              <a:rPr lang="zh-CN" dirty="0">
                <a:solidFill>
                  <a:srgbClr val="20426C"/>
                </a:solidFill>
                <a:latin typeface="Golos Text"/>
                <a:cs typeface="Golos Text"/>
              </a:rPr>
              <a:t> </a:t>
            </a:r>
            <a:r>
              <a:rPr lang="ru-RU" dirty="0">
                <a:solidFill>
                  <a:srgbClr val="20426C"/>
                </a:solidFill>
                <a:latin typeface="Golos Text"/>
                <a:cs typeface="Golos Text"/>
              </a:rPr>
              <a:t>2</a:t>
            </a:r>
            <a:r>
              <a:rPr lang="zh-CN" dirty="0">
                <a:solidFill>
                  <a:srgbClr val="20426C"/>
                </a:solidFill>
                <a:latin typeface="Golos Text"/>
                <a:cs typeface="Golos Text"/>
              </a:rPr>
              <a:t> </a:t>
            </a:r>
            <a:endParaRPr lang="en-US" dirty="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 algn="ctr">
              <a:buNone/>
              <a:defRPr/>
            </a:pPr>
            <a:r>
              <a:rPr lang="ru-RU" dirty="0">
                <a:solidFill>
                  <a:srgbClr val="20426C"/>
                </a:solidFill>
                <a:latin typeface="Golos Text"/>
                <a:cs typeface="Golos Text"/>
              </a:rPr>
              <a:t>«Разработка и контроль УП для точения наружных поверхностей»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 </a:t>
            </a:r>
          </a:p>
        </p:txBody>
      </p:sp>
      <p:pic>
        <p:nvPicPr>
          <p:cNvPr id="3" name="Л2-титул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6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3452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Основные понятия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Точение (токарная обработка)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– наиболее распространенный метод механической обработки заготовок, деталей типа тел вращения. Процесс точения характеризуется вращательным движением заготовки и поступательным движением инструмента.</a:t>
            </a:r>
            <a:endParaRPr lang="en-US" sz="2400">
              <a:latin typeface="Golos Text"/>
              <a:cs typeface="Golos Text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b="1" i="1">
                <a:latin typeface="Golos Text"/>
                <a:cs typeface="Golos Text"/>
              </a:rPr>
              <a:t> </a:t>
            </a:r>
            <a:endParaRPr lang="ru-RU">
              <a:latin typeface="Golos Text"/>
              <a:cs typeface="Golos Tex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grpSp>
        <p:nvGrpSpPr>
          <p:cNvPr id="19" name="Группа 18"/>
          <p:cNvGrpSpPr/>
          <p:nvPr/>
        </p:nvGrpSpPr>
        <p:grpSpPr bwMode="auto">
          <a:xfrm>
            <a:off x="2787050" y="3955726"/>
            <a:ext cx="6733681" cy="1929498"/>
            <a:chOff x="2787050" y="3955726"/>
            <a:chExt cx="6733681" cy="1929498"/>
          </a:xfrm>
        </p:grpSpPr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>
              <a:off x="4791000" y="4050052"/>
              <a:ext cx="2363950" cy="1835171"/>
            </a:xfrm>
            <a:prstGeom prst="rect">
              <a:avLst/>
            </a:prstGeom>
          </p:spPr>
        </p:pic>
        <p:grpSp>
          <p:nvGrpSpPr>
            <p:cNvPr id="13" name="Группа 12"/>
            <p:cNvGrpSpPr/>
            <p:nvPr/>
          </p:nvGrpSpPr>
          <p:grpSpPr bwMode="auto">
            <a:xfrm>
              <a:off x="2787050" y="4075779"/>
              <a:ext cx="2363950" cy="703220"/>
              <a:chOff x="2787050" y="4075779"/>
              <a:chExt cx="2363950" cy="703220"/>
            </a:xfrm>
          </p:grpSpPr>
          <p:cxnSp>
            <p:nvCxnSpPr>
              <p:cNvPr id="9" name="Прямая со стрелкой 8"/>
              <p:cNvCxnSpPr>
                <a:cxnSpLocks noChangeAspect="1"/>
              </p:cNvCxnSpPr>
              <p:nvPr/>
            </p:nvCxnSpPr>
            <p:spPr bwMode="auto">
              <a:xfrm>
                <a:off x="3891000" y="4419000"/>
                <a:ext cx="1260000" cy="360000"/>
              </a:xfrm>
              <a:prstGeom prst="straightConnector1">
                <a:avLst/>
              </a:prstGeom>
              <a:ln>
                <a:solidFill>
                  <a:srgbClr val="2042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2787050" y="4075779"/>
                <a:ext cx="148973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ru-RU" sz="1400">
                    <a:solidFill>
                      <a:srgbClr val="20426C"/>
                    </a:solidFill>
                    <a:latin typeface="Golos Text"/>
                    <a:cs typeface="Golos Text"/>
                  </a:rPr>
                  <a:t>Токарный патрон</a:t>
                </a:r>
              </a:p>
            </p:txBody>
          </p:sp>
        </p:grpSp>
        <p:grpSp>
          <p:nvGrpSpPr>
            <p:cNvPr id="18" name="Группа 17"/>
            <p:cNvGrpSpPr/>
            <p:nvPr/>
          </p:nvGrpSpPr>
          <p:grpSpPr bwMode="auto">
            <a:xfrm>
              <a:off x="6681000" y="3955726"/>
              <a:ext cx="2477899" cy="643274"/>
              <a:chOff x="6681000" y="3955726"/>
              <a:chExt cx="2477899" cy="643274"/>
            </a:xfrm>
          </p:grpSpPr>
          <p:cxnSp>
            <p:nvCxnSpPr>
              <p:cNvPr id="12" name="Прямая со стрелкой 11"/>
              <p:cNvCxnSpPr>
                <a:cxnSpLocks noChangeAspect="1"/>
              </p:cNvCxnSpPr>
              <p:nvPr/>
            </p:nvCxnSpPr>
            <p:spPr bwMode="auto">
              <a:xfrm flipH="1">
                <a:off x="6681000" y="4239000"/>
                <a:ext cx="1260000" cy="360000"/>
              </a:xfrm>
              <a:prstGeom prst="straightConnector1">
                <a:avLst/>
              </a:prstGeom>
              <a:ln>
                <a:solidFill>
                  <a:srgbClr val="2042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 bwMode="auto">
              <a:xfrm>
                <a:off x="7669169" y="3955726"/>
                <a:ext cx="148973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ru-RU" sz="1400">
                    <a:solidFill>
                      <a:srgbClr val="20426C"/>
                    </a:solidFill>
                    <a:latin typeface="Golos Text"/>
                    <a:cs typeface="Golos Text"/>
                  </a:rPr>
                  <a:t>Режущий инструмент</a:t>
                </a:r>
              </a:p>
            </p:txBody>
          </p:sp>
        </p:grpSp>
        <p:grpSp>
          <p:nvGrpSpPr>
            <p:cNvPr id="17" name="Группа 16"/>
            <p:cNvGrpSpPr/>
            <p:nvPr/>
          </p:nvGrpSpPr>
          <p:grpSpPr bwMode="auto">
            <a:xfrm>
              <a:off x="7039169" y="4620502"/>
              <a:ext cx="2481562" cy="621610"/>
              <a:chOff x="7039169" y="4620502"/>
              <a:chExt cx="2481562" cy="621610"/>
            </a:xfrm>
          </p:grpSpPr>
          <p:cxnSp>
            <p:nvCxnSpPr>
              <p:cNvPr id="14" name="Прямая со стрелкой 13"/>
              <p:cNvCxnSpPr>
                <a:cxnSpLocks noChangeAspect="1"/>
              </p:cNvCxnSpPr>
              <p:nvPr/>
            </p:nvCxnSpPr>
            <p:spPr bwMode="auto">
              <a:xfrm flipH="1">
                <a:off x="7039169" y="4882112"/>
                <a:ext cx="1260000" cy="360000"/>
              </a:xfrm>
              <a:prstGeom prst="straightConnector1">
                <a:avLst/>
              </a:prstGeom>
              <a:ln>
                <a:solidFill>
                  <a:srgbClr val="2042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8031000" y="4620502"/>
                <a:ext cx="14897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ru-RU" sz="1400">
                    <a:solidFill>
                      <a:srgbClr val="20426C"/>
                    </a:solidFill>
                    <a:latin typeface="Golos Text"/>
                    <a:cs typeface="Golos Text"/>
                  </a:rPr>
                  <a:t>Заготовка</a:t>
                </a:r>
              </a:p>
            </p:txBody>
          </p:sp>
        </p:grpSp>
      </p:grpSp>
      <p:pic>
        <p:nvPicPr>
          <p:cNvPr id="4" name="Л2-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8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3452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Основные понятия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Вращательное движение заготовки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– называют главным движением резания при точении</a:t>
            </a:r>
            <a:endParaRPr/>
          </a:p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Поступательное движение  режущего инструмента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(резца)- называют движением подачи</a:t>
            </a:r>
            <a:endParaRPr lang="ru-RU">
              <a:latin typeface="Golos Text"/>
              <a:cs typeface="Golos Text"/>
            </a:endParaRPr>
          </a:p>
        </p:txBody>
      </p:sp>
      <p:grpSp>
        <p:nvGrpSpPr>
          <p:cNvPr id="41" name="Группа 40"/>
          <p:cNvGrpSpPr/>
          <p:nvPr/>
        </p:nvGrpSpPr>
        <p:grpSpPr bwMode="auto">
          <a:xfrm>
            <a:off x="2787050" y="3955726"/>
            <a:ext cx="6371850" cy="1929498"/>
            <a:chOff x="2787050" y="3955726"/>
            <a:chExt cx="6371850" cy="1929498"/>
          </a:xfrm>
        </p:grpSpPr>
        <p:pic>
          <p:nvPicPr>
            <p:cNvPr id="20" name="Рисунок 19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>
              <a:off x="4791000" y="4050052"/>
              <a:ext cx="2363950" cy="1835171"/>
            </a:xfrm>
            <a:prstGeom prst="rect">
              <a:avLst/>
            </a:prstGeom>
          </p:spPr>
        </p:pic>
        <p:grpSp>
          <p:nvGrpSpPr>
            <p:cNvPr id="21" name="Группа 20"/>
            <p:cNvGrpSpPr/>
            <p:nvPr/>
          </p:nvGrpSpPr>
          <p:grpSpPr bwMode="auto">
            <a:xfrm>
              <a:off x="2787050" y="4075779"/>
              <a:ext cx="2678950" cy="793220"/>
              <a:chOff x="2787050" y="4075779"/>
              <a:chExt cx="2678950" cy="793220"/>
            </a:xfrm>
          </p:grpSpPr>
          <p:cxnSp>
            <p:nvCxnSpPr>
              <p:cNvPr id="28" name="Прямая со стрелкой 27"/>
              <p:cNvCxnSpPr>
                <a:cxnSpLocks noChangeAspect="1"/>
              </p:cNvCxnSpPr>
              <p:nvPr/>
            </p:nvCxnSpPr>
            <p:spPr bwMode="auto">
              <a:xfrm>
                <a:off x="4071000" y="4470429"/>
                <a:ext cx="1395000" cy="398571"/>
              </a:xfrm>
              <a:prstGeom prst="straightConnector1">
                <a:avLst/>
              </a:prstGeom>
              <a:ln>
                <a:solidFill>
                  <a:srgbClr val="2042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 bwMode="auto">
              <a:xfrm>
                <a:off x="2787050" y="4075779"/>
                <a:ext cx="148973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ru-RU" sz="1400">
                    <a:solidFill>
                      <a:srgbClr val="20426C"/>
                    </a:solidFill>
                    <a:latin typeface="Golos Text"/>
                    <a:cs typeface="Golos Text"/>
                  </a:rPr>
                  <a:t>Главное движение</a:t>
                </a:r>
              </a:p>
            </p:txBody>
          </p:sp>
        </p:grpSp>
        <p:grpSp>
          <p:nvGrpSpPr>
            <p:cNvPr id="40" name="Группа 39"/>
            <p:cNvGrpSpPr/>
            <p:nvPr/>
          </p:nvGrpSpPr>
          <p:grpSpPr bwMode="auto">
            <a:xfrm>
              <a:off x="6377700" y="3955726"/>
              <a:ext cx="2781200" cy="523220"/>
              <a:chOff x="6377700" y="3955726"/>
              <a:chExt cx="2781200" cy="523220"/>
            </a:xfrm>
          </p:grpSpPr>
          <p:sp>
            <p:nvSpPr>
              <p:cNvPr id="27" name="TextBox 26"/>
              <p:cNvSpPr txBox="1"/>
              <p:nvPr/>
            </p:nvSpPr>
            <p:spPr bwMode="auto">
              <a:xfrm>
                <a:off x="7669169" y="3955726"/>
                <a:ext cx="148973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ru-RU" sz="1400">
                    <a:solidFill>
                      <a:srgbClr val="20426C"/>
                    </a:solidFill>
                    <a:latin typeface="Golos Text"/>
                    <a:cs typeface="Golos Text"/>
                  </a:rPr>
                  <a:t>Движение подачи</a:t>
                </a:r>
              </a:p>
            </p:txBody>
          </p:sp>
          <p:cxnSp>
            <p:nvCxnSpPr>
              <p:cNvPr id="37" name="Прямая со стрелкой 36"/>
              <p:cNvCxnSpPr>
                <a:cxnSpLocks/>
              </p:cNvCxnSpPr>
              <p:nvPr/>
            </p:nvCxnSpPr>
            <p:spPr bwMode="auto">
              <a:xfrm flipH="1">
                <a:off x="6377700" y="4217336"/>
                <a:ext cx="1468350" cy="201664"/>
              </a:xfrm>
              <a:prstGeom prst="straightConnector1">
                <a:avLst/>
              </a:prstGeom>
              <a:ln>
                <a:solidFill>
                  <a:srgbClr val="2042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" name="Л2-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94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3452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Основные понятия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В заготовке, подвергающейся обработке резанием различают обрабатываемую поверхность, с которой срезается слой металла, обработанную поверхность, поверхность полученную после снятия стружки, а также поверхность резания образованную лезвием  режущего инструмента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grpSp>
        <p:nvGrpSpPr>
          <p:cNvPr id="23" name="Группа 22"/>
          <p:cNvGrpSpPr/>
          <p:nvPr/>
        </p:nvGrpSpPr>
        <p:grpSpPr bwMode="auto">
          <a:xfrm>
            <a:off x="3044159" y="4050052"/>
            <a:ext cx="6476572" cy="1835171"/>
            <a:chOff x="3044159" y="4050052"/>
            <a:chExt cx="6476572" cy="1835171"/>
          </a:xfrm>
        </p:grpSpPr>
        <p:pic>
          <p:nvPicPr>
            <p:cNvPr id="24" name="Рисунок 23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>
              <a:off x="4791000" y="4050052"/>
              <a:ext cx="2363950" cy="1835171"/>
            </a:xfrm>
            <a:prstGeom prst="rect">
              <a:avLst/>
            </a:prstGeom>
          </p:spPr>
        </p:pic>
        <p:grpSp>
          <p:nvGrpSpPr>
            <p:cNvPr id="25" name="Группа 24"/>
            <p:cNvGrpSpPr/>
            <p:nvPr/>
          </p:nvGrpSpPr>
          <p:grpSpPr bwMode="auto">
            <a:xfrm>
              <a:off x="3044159" y="4217336"/>
              <a:ext cx="2629318" cy="710943"/>
              <a:chOff x="3044159" y="4217336"/>
              <a:chExt cx="2629318" cy="710943"/>
            </a:xfrm>
          </p:grpSpPr>
          <p:cxnSp>
            <p:nvCxnSpPr>
              <p:cNvPr id="35" name="Прямая со стрелкой 34"/>
              <p:cNvCxnSpPr>
                <a:cxnSpLocks noChangeAspect="1"/>
              </p:cNvCxnSpPr>
              <p:nvPr/>
            </p:nvCxnSpPr>
            <p:spPr bwMode="auto">
              <a:xfrm>
                <a:off x="3891000" y="4419000"/>
                <a:ext cx="1782477" cy="509279"/>
              </a:xfrm>
              <a:prstGeom prst="straightConnector1">
                <a:avLst/>
              </a:prstGeom>
              <a:ln>
                <a:solidFill>
                  <a:srgbClr val="2042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/>
              <p:cNvSpPr txBox="1"/>
              <p:nvPr/>
            </p:nvSpPr>
            <p:spPr bwMode="auto">
              <a:xfrm>
                <a:off x="3044159" y="4217336"/>
                <a:ext cx="14897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ru-RU" sz="1400">
                    <a:solidFill>
                      <a:srgbClr val="20426C"/>
                    </a:solidFill>
                    <a:latin typeface="Golos Text"/>
                    <a:cs typeface="Golos Text"/>
                  </a:rPr>
                  <a:t>1</a:t>
                </a:r>
                <a:endParaRPr/>
              </a:p>
            </p:txBody>
          </p:sp>
        </p:grpSp>
        <p:grpSp>
          <p:nvGrpSpPr>
            <p:cNvPr id="26" name="Группа 25"/>
            <p:cNvGrpSpPr/>
            <p:nvPr/>
          </p:nvGrpSpPr>
          <p:grpSpPr bwMode="auto">
            <a:xfrm>
              <a:off x="6681000" y="4063447"/>
              <a:ext cx="2141944" cy="535553"/>
              <a:chOff x="6681000" y="4063447"/>
              <a:chExt cx="2141944" cy="535553"/>
            </a:xfrm>
          </p:grpSpPr>
          <p:cxnSp>
            <p:nvCxnSpPr>
              <p:cNvPr id="33" name="Прямая со стрелкой 32"/>
              <p:cNvCxnSpPr>
                <a:cxnSpLocks noChangeAspect="1"/>
              </p:cNvCxnSpPr>
              <p:nvPr/>
            </p:nvCxnSpPr>
            <p:spPr bwMode="auto">
              <a:xfrm flipH="1">
                <a:off x="6681000" y="4239000"/>
                <a:ext cx="1260001" cy="360000"/>
              </a:xfrm>
              <a:prstGeom prst="straightConnector1">
                <a:avLst/>
              </a:prstGeom>
              <a:ln>
                <a:solidFill>
                  <a:srgbClr val="2042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 bwMode="auto">
              <a:xfrm>
                <a:off x="7333213" y="4063447"/>
                <a:ext cx="14897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ru-RU" sz="1400">
                    <a:solidFill>
                      <a:srgbClr val="20426C"/>
                    </a:solidFill>
                    <a:latin typeface="Golos Text"/>
                    <a:cs typeface="Golos Text"/>
                  </a:rPr>
                  <a:t>3</a:t>
                </a:r>
              </a:p>
            </p:txBody>
          </p:sp>
        </p:grpSp>
        <p:grpSp>
          <p:nvGrpSpPr>
            <p:cNvPr id="30" name="Группа 29"/>
            <p:cNvGrpSpPr/>
            <p:nvPr/>
          </p:nvGrpSpPr>
          <p:grpSpPr bwMode="auto">
            <a:xfrm>
              <a:off x="7039169" y="4620502"/>
              <a:ext cx="2481562" cy="621610"/>
              <a:chOff x="7039169" y="4620502"/>
              <a:chExt cx="2481562" cy="621610"/>
            </a:xfrm>
          </p:grpSpPr>
          <p:cxnSp>
            <p:nvCxnSpPr>
              <p:cNvPr id="31" name="Прямая со стрелкой 30"/>
              <p:cNvCxnSpPr>
                <a:cxnSpLocks noChangeAspect="1"/>
              </p:cNvCxnSpPr>
              <p:nvPr/>
            </p:nvCxnSpPr>
            <p:spPr bwMode="auto">
              <a:xfrm flipH="1">
                <a:off x="7039169" y="4882112"/>
                <a:ext cx="1260000" cy="360000"/>
              </a:xfrm>
              <a:prstGeom prst="straightConnector1">
                <a:avLst/>
              </a:prstGeom>
              <a:ln>
                <a:solidFill>
                  <a:srgbClr val="20426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/>
              <p:cNvSpPr txBox="1"/>
              <p:nvPr/>
            </p:nvSpPr>
            <p:spPr bwMode="auto">
              <a:xfrm>
                <a:off x="8031000" y="4620502"/>
                <a:ext cx="14897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ru-RU" sz="1400">
                    <a:solidFill>
                      <a:srgbClr val="20426C"/>
                    </a:solidFill>
                    <a:latin typeface="Golos Text"/>
                    <a:cs typeface="Golos Text"/>
                  </a:rPr>
                  <a:t>2</a:t>
                </a:r>
              </a:p>
            </p:txBody>
          </p:sp>
        </p:grpSp>
      </p:grpSp>
      <p:pic>
        <p:nvPicPr>
          <p:cNvPr id="3" name="Л2-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5985000" cy="3947487"/>
          </a:xfrm>
        </p:spPr>
        <p:txBody>
          <a:bodyPr>
            <a:no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Основные понятия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Частота вращения шпинделя 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Заготовка, закрепленная в шпинделе, вращается с определенной частотой вращения (n), которая измеряется числом оборотов в минуту (об/мин)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731000" y="4609420"/>
            <a:ext cx="2377982" cy="1800000"/>
          </a:xfrm>
          <a:prstGeom prst="rect">
            <a:avLst/>
          </a:prstGeom>
        </p:spPr>
      </p:pic>
      <p:sp>
        <p:nvSpPr>
          <p:cNvPr id="8" name="Объект 4"/>
          <p:cNvSpPr txBox="1"/>
          <p:nvPr/>
        </p:nvSpPr>
        <p:spPr bwMode="auto">
          <a:xfrm>
            <a:off x="6996000" y="1498229"/>
            <a:ext cx="5129354" cy="31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Скорость резания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Arial"/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Скорость резания — это скорость движения поверхности заготовки относительно режущей кромки, измеряемая в метрах в минуту (м/мин).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Arial"/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Arial"/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Arial"/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Arial"/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031000" y="4603229"/>
            <a:ext cx="2610001" cy="1971362"/>
          </a:xfrm>
          <a:prstGeom prst="rect">
            <a:avLst/>
          </a:prstGeom>
        </p:spPr>
      </p:pic>
      <p:pic>
        <p:nvPicPr>
          <p:cNvPr id="10" name="Л2-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55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2687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Основные понятия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Скорость резания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Скорость резания (vc) зависит от диаметра заготовки и частоты вращения шпинделя (n). Длина окружности (C) — это расстояние, проходимое режущей кромкой за один оборот заготовки</a:t>
            </a:r>
            <a:r>
              <a:rPr lang="ru-RU" sz="2400"/>
              <a:t>.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91000" y="3609000"/>
            <a:ext cx="2581401" cy="229817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636000" y="3564869"/>
            <a:ext cx="3690000" cy="11880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940837" y="3848436"/>
            <a:ext cx="1845000" cy="99346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3938910" y="5049000"/>
            <a:ext cx="2564205" cy="732630"/>
          </a:xfrm>
          <a:prstGeom prst="rect">
            <a:avLst/>
          </a:prstGeom>
        </p:spPr>
      </p:pic>
      <p:pic>
        <p:nvPicPr>
          <p:cNvPr id="4" name="Л2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3452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Основные понятия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Скорость резания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При известной частоте вращения шпинделя и длине окружности заготовки, скорость резания определяется по формуле</a:t>
            </a: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：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218201" y="3564869"/>
            <a:ext cx="1755000" cy="211121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081000" y="4184713"/>
            <a:ext cx="2728495" cy="623364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681000" y="3642949"/>
            <a:ext cx="2607472" cy="1158876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6771000" y="5141864"/>
            <a:ext cx="3105000" cy="639766"/>
          </a:xfrm>
          <a:prstGeom prst="rect">
            <a:avLst/>
          </a:prstGeom>
        </p:spPr>
      </p:pic>
      <p:pic>
        <p:nvPicPr>
          <p:cNvPr id="3" name="Л2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60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3452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Основные понятия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Частота вращения шпинделя</a:t>
            </a:r>
            <a:endParaRPr lang="en-US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При известной скорости резания возможно определить частоту вращения шпинделя по формуле</a:t>
            </a: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：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11000" y="3564869"/>
            <a:ext cx="2613901" cy="214266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794902" y="4237733"/>
            <a:ext cx="1620817" cy="72253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681000" y="3576212"/>
            <a:ext cx="3141412" cy="104088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6906000" y="5063676"/>
            <a:ext cx="2835000" cy="717954"/>
          </a:xfrm>
          <a:prstGeom prst="rect">
            <a:avLst/>
          </a:prstGeom>
        </p:spPr>
      </p:pic>
      <p:pic>
        <p:nvPicPr>
          <p:cNvPr id="3" name="Л2-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89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4127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Основные понятия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Подача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Подача (f</a:t>
            </a:r>
            <a:r>
              <a:rPr lang="ru-RU" sz="2000">
                <a:solidFill>
                  <a:srgbClr val="20426C"/>
                </a:solidFill>
                <a:latin typeface="Golos Text"/>
                <a:cs typeface="Golos Text"/>
              </a:rPr>
              <a:t>n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) в мм/об — это расстояние, на которое инструмент перемещается за один оборот заготовки. Подача оказывает ключевое влияние на качество обработанной поверхности и на процесс формирования стружки в рамках геометрии инструмента. </a:t>
            </a: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881000" y="4059000"/>
            <a:ext cx="2613901" cy="2142663"/>
          </a:xfrm>
          <a:prstGeom prst="rect">
            <a:avLst/>
          </a:prstGeom>
        </p:spPr>
      </p:pic>
      <p:pic>
        <p:nvPicPr>
          <p:cNvPr id="8" name="Л2-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88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4127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Основные понятия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Глубина резания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Глубина резания (</a:t>
            </a:r>
            <a:r>
              <a:rPr lang="ru-RU">
                <a:solidFill>
                  <a:srgbClr val="20426C"/>
                </a:solidFill>
                <a:latin typeface="Golos Text"/>
                <a:cs typeface="Golos Text"/>
              </a:rPr>
              <a:t>a</a:t>
            </a:r>
            <a:r>
              <a:rPr lang="ru-RU" sz="2000">
                <a:solidFill>
                  <a:srgbClr val="20426C"/>
                </a:solidFill>
                <a:latin typeface="Golos Text"/>
                <a:cs typeface="Golos Text"/>
              </a:rPr>
              <a:t>p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) в мм — это половина разности обрабатываемого и обработанного диаметра заготовки. Глубина резания всегда измеряется в направлении, перпендикулярном направлению подачи инструмента.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672347" y="4050052"/>
            <a:ext cx="2847305" cy="23339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482476" y="4574172"/>
            <a:ext cx="1719050" cy="180986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7905277" y="4544962"/>
            <a:ext cx="1326858" cy="1790615"/>
          </a:xfrm>
          <a:prstGeom prst="rect">
            <a:avLst/>
          </a:prstGeom>
        </p:spPr>
      </p:pic>
      <p:pic>
        <p:nvPicPr>
          <p:cNvPr id="10" name="Л2-1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59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890000" cy="448748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Управляющая программа</a:t>
            </a:r>
            <a:endParaRPr/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Управляющая программа-совокупность команд на языке программирования, соответствующая заданному алгоритму функционирования станка по обработке конкретной заготовки</a:t>
            </a:r>
            <a:endParaRPr/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Ручная подготовка управляющей программы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Подготовка и контроль управляющей программы, в основном без применения ЭВМ</a:t>
            </a:r>
            <a:endParaRPr/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Автоматизированная подготовка управляющей программы </a:t>
            </a:r>
            <a:endParaRPr/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Подготовка и контроль управляющей программы с применением ЭВМ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§"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4" name="Л2-1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5117486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Управляющая программа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Кадр управляющей программы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Составляющая часть управляющей программы, вводимая и отрабатываемая как единое целое и содержащая не менее одной команды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Слово управляющей программы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Составляющая часть кадра управляющей программы, содержащая данные о параметре, процесса обработки заготовки и(или) другие данные по выполнению управления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§"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3" name="Л2-1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19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5117486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Управляющая программа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Адрес управляющей программы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Часть слова управляющей программы, определяющая назначение следующих за ним данных, содержащихся в данной программе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Формат кадра управляющей программы 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Условная запись структуры и расположения слов в кадре управляющей программы с максимальным числом слов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§"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3" name="Л2-1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5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5117486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Управляющая программа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Главный кадр управляющей программы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Кадр управляющей программы, содержащий все данные, необходимые для возобновления  процесса обработки заготовки после его перерыва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Номер кадра управляющей программы 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Слово в начале кадра, определяющее последовательность кадров в управляющей программе.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§"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3" name="Л2-1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77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5117486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Управляющая программа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r>
              <a:rPr lang="ru-RU" sz="2400" b="1">
                <a:solidFill>
                  <a:srgbClr val="20426C"/>
                </a:solidFill>
                <a:latin typeface="Golos Text"/>
                <a:cs typeface="Golos Text"/>
              </a:rPr>
              <a:t>Пример</a:t>
            </a:r>
            <a:r>
              <a:rPr lang="zh-CN" sz="2400" b="1">
                <a:solidFill>
                  <a:srgbClr val="20426C"/>
                </a:solidFill>
                <a:latin typeface="Golos Text"/>
                <a:cs typeface="Golos Text"/>
              </a:rPr>
              <a:t>：</a:t>
            </a: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zh-CN">
                <a:solidFill>
                  <a:srgbClr val="20426C"/>
                </a:solidFill>
                <a:latin typeface="Golos Text"/>
                <a:cs typeface="Golos Text"/>
              </a:rPr>
              <a:t>                                    </a:t>
            </a:r>
            <a:endParaRPr lang="en-US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zh-CN">
                <a:solidFill>
                  <a:srgbClr val="20426C"/>
                </a:solidFill>
                <a:latin typeface="Golos Text"/>
                <a:cs typeface="Golos Text"/>
              </a:rPr>
              <a:t>  </a:t>
            </a:r>
            <a:r>
              <a:rPr lang="en-US" sz="3200">
                <a:solidFill>
                  <a:srgbClr val="20426C"/>
                </a:solidFill>
                <a:latin typeface="Golos Text"/>
                <a:cs typeface="Golos Text"/>
              </a:rPr>
              <a:t>N10G01X10.Y10.F100</a:t>
            </a:r>
            <a:r>
              <a:rPr lang="zh-CN" sz="3200">
                <a:solidFill>
                  <a:srgbClr val="20426C"/>
                </a:solidFill>
                <a:latin typeface="Golos Text"/>
                <a:cs typeface="Golos Text"/>
              </a:rPr>
              <a:t>；</a:t>
            </a:r>
            <a:endParaRPr lang="ru-RU" sz="32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§"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7" name="Л2-1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126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5117486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G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и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M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 функции управляющей программы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Программирование обработки на современных станках с ЧПУ осуществляется на языке, который обычно называют языком ИСО (ISO) 7 бит (ГОСТ 20999-83 Устройства числового программного управления металлорежущими станками. Кодирование информации), или языком G- и М-кодов. Коды с адресом G, называемые подготовительными, определяют настройку УЧПУ на определенный вид работы. Коды с адресом М называются вспомогательными и предназначены для управления режимами работы станка. </a:t>
            </a: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zh-CN">
                <a:solidFill>
                  <a:srgbClr val="20426C"/>
                </a:solidFill>
                <a:latin typeface="Golos Text"/>
                <a:cs typeface="Golos Text"/>
              </a:rPr>
              <a:t>                                    </a:t>
            </a:r>
            <a:endParaRPr lang="en-US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zh-CN">
                <a:solidFill>
                  <a:srgbClr val="20426C"/>
                </a:solidFill>
                <a:latin typeface="Golos Text"/>
                <a:cs typeface="Golos Text"/>
              </a:rPr>
              <a:t>  </a:t>
            </a: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Ø"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§"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3" name="Л2-1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19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5117486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G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и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M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 функции управляющей программы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G00 -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Быстрое позиционирование/Перемещение в запрограммированную точку с максимальной скоростью (например, с наибольшей скоростью подачи). Предварительно запрограммированная скорость перемещения игнорируется, но не отменяется. Перемещения по осям координат могут быть некоординированы.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                                </a:t>
            </a: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Пример </a:t>
            </a: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：                             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G00 X10. Y20. Z25. 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;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3" name="Л2-1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2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7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5117486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G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и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M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 функции управляющей программы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G01 -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Линейная интерполяция/Вид управления, при котором обеспечивается постоянное отношение между скоростями по осям координат, пропорциональное отношению между расстояниями, на которые должен переместиться исполнительный орган станка по двум или более осям координат одновременно.</a:t>
            </a: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                                </a:t>
            </a: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Пример </a:t>
            </a: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：                             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G0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1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 X10. Y20. 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F100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 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3" name="Л2-18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6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7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5117486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G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и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M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 функции управляющей программы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G02 -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Круговая интерполяция, движение по часовой стрелке/Вид контурного управления для получения дуги окружности, при котором векторные скорости по осям координат, используемые для образования дуги, изменяются устройством управления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                                </a:t>
            </a: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Пример </a:t>
            </a: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：                             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G0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2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 X10.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Z-10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.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R10.F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0.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1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 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3" name="Л2-1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34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7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890000" cy="5117486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G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и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M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 функции управляющей программы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G03 -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Круговая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интерполяция, движение против часовой стрелки/Вид контурного управления для получения дуги окружности, при котором векторные скорости по осям координат, используемые для образования дуги, изменяются устройством управления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                                </a:t>
            </a: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Пример </a:t>
            </a: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：                             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G0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3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 X10.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Z-1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0.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R10.F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0.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1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 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3" name="Л2-2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06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7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890000" cy="5117486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G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и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M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 функции управляющей программы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М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0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0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 -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Программируемый останов/ Останов без потери информации по окончании отработки соответствующего кадра. После выполнения команд происходит останов шпинделя, охлаждения, подачи. Работа по программе возобновляется нажатием кнопки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                                </a:t>
            </a: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Пример </a:t>
            </a: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：                              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 G01 X50 Z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10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 M00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5" name="Л2-М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7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890000" cy="5117486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G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и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M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 функции управляющей программы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М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03 -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Вращение шпинделя по часовой стрелке/ Включает шпиндель в направлении, при котором винт с правой нарезкой, закрепленный в шпинделе, входит в заготовку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                                </a:t>
            </a: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Пример </a:t>
            </a: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：                              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 G0 X50 Z10 S1500 M03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3" name="Л2-М03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34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7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890000" cy="5117486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G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и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M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 функции управляющей программы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М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04 - 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Вращение шпинделя против часовой стрелки/ Включает шпиндель в направлении, при котором винт с правой нарезкой, закрепленный в шпинделе, выходит из заготовки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                                </a:t>
            </a: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Пример </a:t>
            </a: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：                              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 G0 X50 Z10 S1500 M04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3" name="Л2-М0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sp>
        <p:nvSpPr>
          <p:cNvPr id="7" name="Объект 4"/>
          <p:cNvSpPr>
            <a:spLocks noGrp="1"/>
          </p:cNvSpPr>
          <p:nvPr>
            <p:ph idx="1"/>
          </p:nvPr>
        </p:nvSpPr>
        <p:spPr bwMode="auto">
          <a:xfrm>
            <a:off x="955800" y="1143272"/>
            <a:ext cx="10890000" cy="5117486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G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и </a:t>
            </a:r>
            <a:r>
              <a:rPr lang="en-US" sz="2400" b="1" i="1">
                <a:solidFill>
                  <a:srgbClr val="20426C"/>
                </a:solidFill>
                <a:latin typeface="Golos Text"/>
                <a:cs typeface="Golos Text"/>
              </a:rPr>
              <a:t>M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 функции управляющей программы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zh-CN" sz="2400">
                <a:solidFill>
                  <a:srgbClr val="20426C"/>
                </a:solidFill>
                <a:latin typeface="Golos Text"/>
                <a:cs typeface="Golos Text"/>
              </a:rPr>
              <a:t>                                </a:t>
            </a: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rcRect l="43471" t="13714" r="28567" b="12781"/>
          <a:stretch/>
        </p:blipFill>
        <p:spPr bwMode="auto">
          <a:xfrm>
            <a:off x="1776000" y="1842054"/>
            <a:ext cx="2520000" cy="372640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rcRect l="34825" t="11306" r="33547" b="9604"/>
          <a:stretch/>
        </p:blipFill>
        <p:spPr bwMode="auto">
          <a:xfrm>
            <a:off x="4984359" y="1635256"/>
            <a:ext cx="2943282" cy="4140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rcRect l="42372" t="15879" r="26132" b="5817"/>
          <a:stretch/>
        </p:blipFill>
        <p:spPr bwMode="auto">
          <a:xfrm>
            <a:off x="8194728" y="1526810"/>
            <a:ext cx="2900772" cy="4056548"/>
          </a:xfrm>
          <a:prstGeom prst="rect">
            <a:avLst/>
          </a:prstGeom>
        </p:spPr>
      </p:pic>
      <p:pic>
        <p:nvPicPr>
          <p:cNvPr id="9" name="Л2-GM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79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21000" y="5409000"/>
            <a:ext cx="1925890" cy="938254"/>
          </a:xfrm>
          <a:prstGeom prst="rect">
            <a:avLst/>
          </a:prstGeom>
        </p:spPr>
      </p:pic>
      <p:sp>
        <p:nvSpPr>
          <p:cNvPr id="18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3452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Обрабатываемые поверхности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8211000" y="1989000"/>
            <a:ext cx="2925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(ТОРЕЦ)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G0X0Z5S1200M03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G01Z-0.5X26F0.1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.</a:t>
            </a:r>
            <a:endParaRPr/>
          </a:p>
          <a:p>
            <a:pPr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.</a:t>
            </a:r>
            <a:endParaRPr/>
          </a:p>
          <a:p>
            <a:pPr algn="ctr"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(СТУПЕНЬ)</a:t>
            </a:r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G01X26Z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0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F0.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2</a:t>
            </a: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X25Z-100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G0X50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Z10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41000" y="2164295"/>
            <a:ext cx="5950957" cy="2159365"/>
          </a:xfrm>
          <a:prstGeom prst="rect">
            <a:avLst/>
          </a:prstGeom>
        </p:spPr>
      </p:pic>
      <p:pic>
        <p:nvPicPr>
          <p:cNvPr id="8" name="Л2-2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/>
        </p:blipFill>
        <p:spPr bwMode="auto">
          <a:xfrm>
            <a:off x="5660054" y="524215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21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21000" y="5409000"/>
            <a:ext cx="1925890" cy="938254"/>
          </a:xfrm>
          <a:prstGeom prst="rect">
            <a:avLst/>
          </a:prstGeom>
        </p:spPr>
      </p:pic>
      <p:sp>
        <p:nvSpPr>
          <p:cNvPr id="18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3452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Обрабатываемые поверхности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40174" y="2164295"/>
            <a:ext cx="5951782" cy="21593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 bwMode="auto">
          <a:xfrm>
            <a:off x="8211000" y="1989000"/>
            <a:ext cx="2925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(ТОРЕЦ)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G0X0Z5S1200M03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G01Z-0.5X26F0.1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.</a:t>
            </a:r>
            <a:endParaRPr/>
          </a:p>
          <a:p>
            <a:pPr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.</a:t>
            </a:r>
            <a:endParaRPr/>
          </a:p>
          <a:p>
            <a:pPr algn="ctr">
              <a:defRPr/>
            </a:pP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(СТУПЕНЬ)</a:t>
            </a:r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G01X25Z0F0.2</a:t>
            </a:r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X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30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Z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-100</a:t>
            </a: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G0X50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Z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10</a:t>
            </a:r>
          </a:p>
          <a:p>
            <a:pPr>
              <a:defRPr/>
            </a:pPr>
            <a:endParaRPr lang="ru-RU" sz="2400">
              <a:latin typeface="Golos Text"/>
              <a:cs typeface="Golos Text"/>
            </a:endParaRPr>
          </a:p>
          <a:p>
            <a:pPr>
              <a:defRPr/>
            </a:pPr>
            <a:endParaRPr lang="en-US" sz="2400">
              <a:latin typeface="Golos Text"/>
              <a:cs typeface="Golos Text"/>
            </a:endParaRPr>
          </a:p>
        </p:txBody>
      </p:sp>
      <p:pic>
        <p:nvPicPr>
          <p:cNvPr id="3" name="Л2-2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/>
        </p:blipFill>
        <p:spPr bwMode="auto">
          <a:xfrm>
            <a:off x="5791200" y="560799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6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21000" y="5409000"/>
            <a:ext cx="1925890" cy="938254"/>
          </a:xfrm>
          <a:prstGeom prst="rect">
            <a:avLst/>
          </a:prstGeom>
        </p:spPr>
      </p:pic>
      <p:sp>
        <p:nvSpPr>
          <p:cNvPr id="18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3452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Обрабатываемые поверхности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rcRect t="1" b="1861"/>
          <a:stretch/>
        </p:blipFill>
        <p:spPr bwMode="auto">
          <a:xfrm>
            <a:off x="733800" y="2193345"/>
            <a:ext cx="5958157" cy="20906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 bwMode="auto">
          <a:xfrm>
            <a:off x="8211000" y="1989000"/>
            <a:ext cx="2925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(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ТОРЕЦ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)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G0X0Z5S1200M03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G01Z-0.5X26F0.1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.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.</a:t>
            </a:r>
            <a:endParaRPr/>
          </a:p>
          <a:p>
            <a:pPr algn="ctr"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(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КАНАВКА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)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G01X26Z-75F0.2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X19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G0X50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Z10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endParaRPr lang="en-US" sz="2400">
              <a:latin typeface="Golos Text"/>
              <a:cs typeface="Golos Text"/>
            </a:endParaRPr>
          </a:p>
          <a:p>
            <a:pPr>
              <a:defRPr/>
            </a:pPr>
            <a:endParaRPr lang="en-US" sz="2400">
              <a:latin typeface="Golos Text"/>
              <a:cs typeface="Golos Text"/>
            </a:endParaRPr>
          </a:p>
          <a:p>
            <a:pPr>
              <a:defRPr/>
            </a:pPr>
            <a:endParaRPr lang="en-US" sz="2400">
              <a:latin typeface="Golos Text"/>
              <a:cs typeface="Golos Text"/>
            </a:endParaRPr>
          </a:p>
        </p:txBody>
      </p:sp>
      <p:pic>
        <p:nvPicPr>
          <p:cNvPr id="3" name="Л2-2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/>
        </p:blipFill>
        <p:spPr bwMode="auto">
          <a:xfrm>
            <a:off x="5659200" y="508987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52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21000" y="5409000"/>
            <a:ext cx="1925890" cy="938254"/>
          </a:xfrm>
          <a:prstGeom prst="rect">
            <a:avLst/>
          </a:prstGeom>
        </p:spPr>
      </p:pic>
      <p:sp>
        <p:nvSpPr>
          <p:cNvPr id="18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3452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Обрабатываемые поверхности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38420" y="2153284"/>
            <a:ext cx="5994916" cy="2135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8211000" y="1989000"/>
            <a:ext cx="2925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(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ТОРЕЦ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)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G0X0Z5S1200M03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G01Z-0.5X26F0.1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.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.</a:t>
            </a:r>
            <a:endParaRPr/>
          </a:p>
          <a:p>
            <a:pPr algn="ctr"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(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ФАСКА)</a:t>
            </a: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G01X20Z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0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F0.2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X25Z-5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G0X50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Z10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endParaRPr lang="en-US" sz="2400">
              <a:latin typeface="Golos Text"/>
              <a:cs typeface="Golos Text"/>
            </a:endParaRPr>
          </a:p>
          <a:p>
            <a:pPr>
              <a:defRPr/>
            </a:pPr>
            <a:endParaRPr lang="en-US" sz="2400">
              <a:latin typeface="Golos Text"/>
              <a:cs typeface="Golos Text"/>
            </a:endParaRPr>
          </a:p>
        </p:txBody>
      </p:sp>
      <p:pic>
        <p:nvPicPr>
          <p:cNvPr id="3" name="Л2-2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/>
        </p:blipFill>
        <p:spPr bwMode="auto">
          <a:xfrm>
            <a:off x="5659200" y="47994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6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21000" y="5409000"/>
            <a:ext cx="1925890" cy="938254"/>
          </a:xfrm>
          <a:prstGeom prst="rect">
            <a:avLst/>
          </a:prstGeom>
        </p:spPr>
      </p:pic>
      <p:sp>
        <p:nvSpPr>
          <p:cNvPr id="18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3452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Обрабатываемые поверхности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38420" y="2161834"/>
            <a:ext cx="5994916" cy="21671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8211000" y="1989000"/>
            <a:ext cx="3240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(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ТОРЕЦ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)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G0X0Z5S1200M03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G01Z-0.5X26F0.1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.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.</a:t>
            </a:r>
          </a:p>
          <a:p>
            <a:pPr algn="ctr"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(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СКРУГЛЕНИЕ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)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G02X25Z-8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0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R10F0.2</a:t>
            </a:r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G0X50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Z10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endParaRPr lang="en-US" sz="2400">
              <a:latin typeface="Golos Text"/>
              <a:cs typeface="Golos Text"/>
            </a:endParaRPr>
          </a:p>
          <a:p>
            <a:pPr>
              <a:defRPr/>
            </a:pPr>
            <a:endParaRPr lang="en-US" sz="2400">
              <a:latin typeface="Golos Text"/>
              <a:cs typeface="Golos Text"/>
            </a:endParaRPr>
          </a:p>
        </p:txBody>
      </p:sp>
      <p:pic>
        <p:nvPicPr>
          <p:cNvPr id="5" name="Л2-2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/>
        </p:blipFill>
        <p:spPr bwMode="auto">
          <a:xfrm>
            <a:off x="5791200" y="5552802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7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>
                <a:solidFill>
                  <a:srgbClr val="20426C"/>
                </a:solidFill>
              </a:rPr>
              <a:t>Лекция</a:t>
            </a:r>
            <a:r>
              <a:rPr lang="en-US" sz="3200">
                <a:solidFill>
                  <a:srgbClr val="20426C"/>
                </a:solidFill>
              </a:rPr>
              <a:t> #</a:t>
            </a:r>
            <a:r>
              <a:rPr lang="ru-RU" sz="3200">
                <a:solidFill>
                  <a:srgbClr val="20426C"/>
                </a:solidFill>
              </a:rPr>
              <a:t>2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21000" y="5409000"/>
            <a:ext cx="1925890" cy="938254"/>
          </a:xfrm>
          <a:prstGeom prst="rect">
            <a:avLst/>
          </a:prstGeom>
        </p:spPr>
      </p:pic>
      <p:sp>
        <p:nvSpPr>
          <p:cNvPr id="18" name="Объект 4"/>
          <p:cNvSpPr>
            <a:spLocks noGrp="1"/>
          </p:cNvSpPr>
          <p:nvPr>
            <p:ph idx="1"/>
          </p:nvPr>
        </p:nvSpPr>
        <p:spPr bwMode="auto">
          <a:xfrm>
            <a:off x="1011000" y="1146513"/>
            <a:ext cx="10733400" cy="3452487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/>
              <a:buChar char="q"/>
              <a:defRPr/>
            </a:pPr>
            <a:r>
              <a:rPr lang="ru-RU" sz="2400" b="1" i="1">
                <a:latin typeface="Golos Text"/>
                <a:cs typeface="Golos Text"/>
              </a:rPr>
              <a:t> </a:t>
            </a:r>
            <a:r>
              <a:rPr lang="ru-RU" sz="2400" b="1" i="1">
                <a:solidFill>
                  <a:srgbClr val="20426C"/>
                </a:solidFill>
                <a:latin typeface="Golos Text"/>
                <a:cs typeface="Golos Text"/>
              </a:rPr>
              <a:t>Обрабатываемые поверхности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65430" y="2161834"/>
            <a:ext cx="5936645" cy="21290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8211000" y="1989000"/>
            <a:ext cx="3060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(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ТОРЕЦ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)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G0X0Z5S1200M03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G01Z-0.5X26F0.1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.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.</a:t>
            </a:r>
            <a:endParaRPr/>
          </a:p>
          <a:p>
            <a:pPr algn="ctr"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(</a:t>
            </a:r>
            <a:r>
              <a:rPr lang="ru-RU" sz="2400">
                <a:solidFill>
                  <a:srgbClr val="20426C"/>
                </a:solidFill>
                <a:latin typeface="Golos Text"/>
                <a:cs typeface="Golos Text"/>
              </a:rPr>
              <a:t>РЕЗЬБА</a:t>
            </a: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)</a:t>
            </a:r>
            <a:endParaRPr lang="ru-RU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G82X48Z-71CPF1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G80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G00X50Z10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20426C"/>
                </a:solidFill>
                <a:latin typeface="Golos Text"/>
                <a:cs typeface="Golos Text"/>
              </a:rPr>
              <a:t>M30</a:t>
            </a:r>
            <a:endParaRPr/>
          </a:p>
          <a:p>
            <a:pPr>
              <a:defRPr/>
            </a:pPr>
            <a:endParaRPr lang="en-US" sz="2400">
              <a:solidFill>
                <a:srgbClr val="20426C"/>
              </a:solidFill>
              <a:latin typeface="Golos Text"/>
              <a:cs typeface="Golos Text"/>
            </a:endParaRPr>
          </a:p>
          <a:p>
            <a:pPr>
              <a:defRPr/>
            </a:pPr>
            <a:endParaRPr lang="ru-RU" sz="2400">
              <a:latin typeface="Golos Text"/>
              <a:cs typeface="Golos Text"/>
            </a:endParaRPr>
          </a:p>
        </p:txBody>
      </p:sp>
      <p:pic>
        <p:nvPicPr>
          <p:cNvPr id="9" name="Л2-2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/>
        </p:blipFill>
        <p:spPr bwMode="auto">
          <a:xfrm>
            <a:off x="5768100" y="5573327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737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Объект 4"/>
          <p:cNvSpPr txBox="1"/>
          <p:nvPr/>
        </p:nvSpPr>
        <p:spPr bwMode="auto">
          <a:xfrm>
            <a:off x="1011000" y="1143272"/>
            <a:ext cx="107334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 b="1" i="1">
              <a:solidFill>
                <a:srgbClr val="20426C"/>
              </a:solidFill>
              <a:latin typeface="Golos Text"/>
              <a:cs typeface="Golos Tex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r>
              <a:rPr lang="ru-RU" sz="4400">
                <a:solidFill>
                  <a:srgbClr val="20426C"/>
                </a:solidFill>
                <a:latin typeface="Golos Text"/>
                <a:cs typeface="Golos Text"/>
              </a:rPr>
              <a:t>Благодарю за внимание!</a:t>
            </a:r>
            <a:endParaRPr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  <a:defRPr/>
            </a:pPr>
            <a:endParaRPr lang="ru-RU" sz="2400">
              <a:latin typeface="Golos Text"/>
              <a:cs typeface="Golos Text"/>
            </a:endParaRPr>
          </a:p>
        </p:txBody>
      </p:sp>
      <p:pic>
        <p:nvPicPr>
          <p:cNvPr id="2" name="Л1-2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5791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9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1300</Words>
  <Application>Microsoft Office PowerPoint</Application>
  <DocSecurity>0</DocSecurity>
  <PresentationFormat>Широкоэкранный</PresentationFormat>
  <Paragraphs>322</Paragraphs>
  <Slides>33</Slides>
  <Notes>4</Notes>
  <HiddenSlides>0</HiddenSlides>
  <MMClips>31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Golos Text</vt:lpstr>
      <vt:lpstr>Golos Text DemiBold</vt:lpstr>
      <vt:lpstr>Wingdings</vt:lpstr>
      <vt:lpstr>Тема Office</vt:lpstr>
      <vt:lpstr>Презентация PowerPoint</vt:lpstr>
      <vt:lpstr>Структура программы</vt:lpstr>
      <vt:lpstr> 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Лекция #2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СТАНКИН</dc:creator>
  <cp:keywords/>
  <dc:description/>
  <cp:lastModifiedBy>Наталия Широких</cp:lastModifiedBy>
  <cp:revision>130</cp:revision>
  <dcterms:created xsi:type="dcterms:W3CDTF">2025-08-21T14:41:06Z</dcterms:created>
  <dcterms:modified xsi:type="dcterms:W3CDTF">2025-11-10T21:03:57Z</dcterms:modified>
  <cp:category/>
  <dc:identifier/>
  <cp:contentStatus/>
  <dc:language/>
  <cp:version/>
</cp:coreProperties>
</file>